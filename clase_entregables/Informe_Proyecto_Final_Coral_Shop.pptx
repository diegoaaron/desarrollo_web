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6" r:id="rId18"/>
    <p:sldId id="278" r:id="rId19"/>
    <p:sldId id="279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UNIVERSIDAD TECNOLÓGICA DEL PERÚ  · 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600" b="1" i="0">
                <a:solidFill>
                  <a:srgbClr val="ECE2D0"/>
                </a:solidFill>
                <a:latin typeface="Cambria"/>
              </a:rPr>
              <a:t>Coral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Plataforma de comercio electrónico para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la venta de ropa juvenil personalizable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0128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D8C6C0"/>
                </a:solidFill>
                <a:latin typeface="Calibri"/>
              </a:rPr>
              <a:t>Proyecto Final  ·  Diagnóstico, diseño de la solución y plan de implementación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149840" cy="1828800"/>
          </a:xfrm>
          <a:prstGeom prst="roundRect">
            <a:avLst>
              <a:gd name="adj" fmla="val 2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2245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Desarrollo Web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22452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4805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Ronald Fernando Medina Cabrera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2245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4805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7433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GRUPO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0368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CE2D0"/>
                </a:solidFill>
                <a:latin typeface="Calibri"/>
              </a:rPr>
              <a:t>Choquehuanca Marrufo, Liam Lennon  ·  Damián Valdivia, Diego Aarón  ·  Loayza Gerónimo, Juan Franco  ·  Villanueva Montalvo, Apolo Chris  ·  Campos Sulca, Jian Pier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 que vamos a recorrer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946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Diagnóstico del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Empresa, Canvas, PESTEL, FODA e Ishikawa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9943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6946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26769"/>
                </a:solidFill>
                <a:latin typeface="Cambria"/>
              </a:rPr>
              <a:t>Problemática y 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535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La causa raíz y las metas medibles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2751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1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256946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3C6E8F"/>
                </a:solidFill>
                <a:latin typeface="Cambria"/>
              </a:rPr>
              <a:t>Características de la tienda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9535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Los 20 módulos y 49 requerimientos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611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1830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Arquitectura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1023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Cliente-servidor en tres capas sobre Tomcat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9943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2" y="416966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71830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E7A5A"/>
                </a:solidFill>
                <a:latin typeface="Cambria"/>
              </a:rPr>
              <a:t>Modelo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51023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28 tablas, relaciones y campos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Exposición del Proyecto Final  ·  Semana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Coral Shop S.A.C.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6675120" cy="2148840"/>
          </a:xfrm>
          <a:prstGeom prst="roundRect">
            <a:avLst>
              <a:gd name="adj" fmla="val 170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00784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A26769"/>
                </a:solidFill>
                <a:latin typeface="Calibri"/>
              </a:rPr>
              <a:t>MISIÓN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75104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Vestir la identidad de los jóvenes peruanos con ropa urbana que pueden personalizar a su gusto, con precios accesibles y producción local responsable.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A26769"/>
                </a:solidFill>
                <a:latin typeface="Calibri"/>
              </a:rPr>
              <a:t>VISIÓN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Ser en 2030 la primera marca peruana de ropa juvenil personalizable en línea: diseñar tu prenda en minutos y recibirla en 72 horas.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6675120" cy="2286000"/>
          </a:xfrm>
          <a:prstGeom prst="roundRect">
            <a:avLst>
              <a:gd name="adj" fmla="val 16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A26769"/>
                </a:solidFill>
                <a:latin typeface="Calibri"/>
              </a:rPr>
              <a:t>QUÉ VENDE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6126480" cy="1187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432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Catálogo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propio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: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polos,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poleras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capucha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gorras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tote bags.</a:t>
            </a:r>
          </a:p>
          <a:p>
            <a:pPr>
              <a:lnSpc>
                <a:spcPct val="130000"/>
              </a:lnSpc>
              <a:spcAft>
                <a:spcPts val="432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Estampado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personalizado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: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cliente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elige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zona,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técnica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tamaño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sube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su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propia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imagen o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texto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.</a:t>
            </a:r>
          </a:p>
          <a:p>
            <a:pPr>
              <a:lnSpc>
                <a:spcPct val="130000"/>
              </a:lnSpc>
              <a:spcAft>
                <a:spcPts val="432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Pedidos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por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volumen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: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polos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promoción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facultad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equipos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deportivos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de colectivos,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desde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una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unidad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sin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mínimos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.</a:t>
            </a:r>
          </a:p>
          <a:p>
            <a:pPr>
              <a:lnSpc>
                <a:spcPct val="130000"/>
              </a:lnSpc>
              <a:spcAft>
                <a:spcPts val="432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Hoy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todo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pasa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2B2020"/>
                </a:solidFill>
                <a:latin typeface="Calibri"/>
              </a:rPr>
              <a:t>por</a:t>
            </a:r>
            <a:r>
              <a:rPr sz="1050" b="1" dirty="0">
                <a:solidFill>
                  <a:srgbClr val="2B2020"/>
                </a:solidFill>
                <a:latin typeface="Calibri"/>
              </a:rPr>
              <a:t> chat: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Instagram y WhatsApp para vender, y hojas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cálculo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locales para 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inventario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81328"/>
            <a:ext cx="3886200" cy="4599432"/>
          </a:xfrm>
          <a:prstGeom prst="roundRect">
            <a:avLst>
              <a:gd name="adj" fmla="val 941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17373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9AFAF"/>
                </a:solidFill>
                <a:latin typeface="Calibri"/>
              </a:rPr>
              <a:t>INDUSTRIA Y TAMAÑO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21284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80">
                <a:solidFill>
                  <a:srgbClr val="D9AFAF"/>
                </a:solidFill>
                <a:latin typeface="Calibri"/>
              </a:rPr>
              <a:t>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32304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ECE2D0"/>
                </a:solidFill>
                <a:latin typeface="Calibri"/>
              </a:rPr>
              <a:t>Comercio al por menor 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ECE2D0"/>
                </a:solidFill>
                <a:latin typeface="Calibri"/>
              </a:rPr>
              <a:t>prendas de vestir (CIIU 4771)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9992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80">
                <a:solidFill>
                  <a:srgbClr val="D9AFAF"/>
                </a:solidFill>
                <a:latin typeface="Calibri"/>
              </a:rPr>
              <a:t>TAMAÑO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18687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ECE2D0"/>
                </a:solidFill>
                <a:latin typeface="Calibri"/>
              </a:rPr>
              <a:t>Pequeña empresa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8444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80">
                <a:solidFill>
                  <a:srgbClr val="D9AFAF"/>
                </a:solidFill>
                <a:latin typeface="Calibri"/>
              </a:rPr>
              <a:t>COLABORADORES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803904"/>
            <a:ext cx="329184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s-PE" sz="1100" dirty="0">
                <a:solidFill>
                  <a:srgbClr val="ECE2D0"/>
                </a:solidFill>
                <a:latin typeface="Calibri"/>
              </a:rPr>
              <a:t>5</a:t>
            </a:r>
            <a:endParaRPr sz="1100" b="0" i="0" dirty="0">
              <a:solidFill>
                <a:srgbClr val="ECE2D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32420" y="41330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80" dirty="0">
                <a:solidFill>
                  <a:srgbClr val="D9AFAF"/>
                </a:solidFill>
                <a:latin typeface="Calibri"/>
              </a:rPr>
              <a:t>PEDIDOS AL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420" y="4386699"/>
            <a:ext cx="329184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s-PE" sz="1100" dirty="0">
                <a:solidFill>
                  <a:srgbClr val="ECE2D0"/>
                </a:solidFill>
                <a:latin typeface="Calibri"/>
              </a:rPr>
              <a:t>120</a:t>
            </a:r>
            <a:r>
              <a:rPr sz="1100" b="0" i="0" dirty="0">
                <a:solidFill>
                  <a:srgbClr val="ECE2D0"/>
                </a:solidFill>
                <a:latin typeface="Calibri"/>
              </a:rPr>
              <a:t> a </a:t>
            </a:r>
            <a:r>
              <a:rPr lang="es-PE" sz="1100" dirty="0">
                <a:solidFill>
                  <a:srgbClr val="ECE2D0"/>
                </a:solidFill>
                <a:latin typeface="Calibri"/>
              </a:rPr>
              <a:t>25</a:t>
            </a:r>
            <a:r>
              <a:rPr sz="1100" b="0" i="0" dirty="0">
                <a:solidFill>
                  <a:srgbClr val="ECE2D0"/>
                </a:solidFill>
                <a:latin typeface="Calibri"/>
              </a:rPr>
              <a:t>0 </a:t>
            </a:r>
            <a:r>
              <a:rPr sz="1100" b="0" i="0" dirty="0" err="1">
                <a:solidFill>
                  <a:srgbClr val="ECE2D0"/>
                </a:solidFill>
                <a:latin typeface="Calibri"/>
              </a:rPr>
              <a:t>según</a:t>
            </a:r>
            <a:r>
              <a:rPr sz="1100" b="0" i="0" dirty="0">
                <a:solidFill>
                  <a:srgbClr val="ECE2D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ECE2D0"/>
                </a:solidFill>
                <a:latin typeface="Calibri"/>
              </a:rPr>
              <a:t>temporada</a:t>
            </a:r>
            <a:endParaRPr sz="1100" b="0" i="0" dirty="0">
              <a:solidFill>
                <a:srgbClr val="ECE2D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32420" y="4766443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80">
                <a:solidFill>
                  <a:srgbClr val="D9AFAF"/>
                </a:solidFill>
                <a:latin typeface="Calibri"/>
              </a:rPr>
              <a:t>TICKET PROMEDIO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2420" y="5047487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dirty="0">
                <a:solidFill>
                  <a:srgbClr val="ECE2D0"/>
                </a:solidFill>
                <a:latin typeface="Calibri"/>
              </a:rPr>
              <a:t>S/ 78  ·  S/ 112 </a:t>
            </a:r>
            <a:r>
              <a:rPr sz="1100" b="0" i="0" dirty="0" err="1">
                <a:solidFill>
                  <a:srgbClr val="ECE2D0"/>
                </a:solidFill>
                <a:latin typeface="Calibri"/>
              </a:rPr>
              <a:t>si</a:t>
            </a:r>
            <a:r>
              <a:rPr sz="1100" b="0" i="0" dirty="0">
                <a:solidFill>
                  <a:srgbClr val="ECE2D0"/>
                </a:solidFill>
                <a:latin typeface="Calibri"/>
              </a:rPr>
              <a:t> es </a:t>
            </a:r>
            <a:r>
              <a:rPr sz="1100" b="0" i="0" dirty="0" err="1">
                <a:solidFill>
                  <a:srgbClr val="ECE2D0"/>
                </a:solidFill>
                <a:latin typeface="Calibri"/>
              </a:rPr>
              <a:t>personalizado</a:t>
            </a:r>
            <a:endParaRPr sz="1100" b="0" i="0" dirty="0">
              <a:solidFill>
                <a:srgbClr val="ECE2D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MODELO DE NEGOCIO</a:t>
            </a:r>
          </a:p>
        </p:txBody>
      </p:sp>
      <p:pic>
        <p:nvPicPr>
          <p:cNvPr id="4" name="Picture 3" descr="02_canvas.png"/>
          <p:cNvPicPr>
            <a:picLocks noChangeAspect="1"/>
          </p:cNvPicPr>
          <p:nvPr/>
        </p:nvPicPr>
        <p:blipFill>
          <a:blip r:embed="rId2"/>
          <a:srcRect r="2875" b="5797"/>
          <a:stretch>
            <a:fillRect/>
          </a:stretch>
        </p:blipFill>
        <p:spPr>
          <a:xfrm>
            <a:off x="808211" y="658368"/>
            <a:ext cx="9633646" cy="5339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La propuesta de valor completa depende de que el cliente pueda diseñar y ver su prenda antes de comprar: por eso hace falta una plataforma propia.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ENTORNO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Análisis PESTEL articulado al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64008" cy="13716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71907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6D2E46"/>
                </a:solidFill>
                <a:latin typeface="Calibri"/>
              </a:rPr>
              <a:t>POLÍTICO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116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Fiscalización de INDECOPI sobre información al consumidor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7802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D2E46"/>
                </a:solidFill>
                <a:latin typeface="Calibri"/>
              </a:rPr>
              <a:t>→  Obliga a publicar políticas y habilitar reclamos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36192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36192"/>
            <a:ext cx="64008" cy="137160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71907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3C6E8F"/>
                </a:solidFill>
                <a:latin typeface="Calibri"/>
              </a:rPr>
              <a:t>ECONÓMICO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0116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Tipo de cambio volátil encarece los insumos importados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7802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3C6E8F"/>
                </a:solidFill>
                <a:latin typeface="Calibri"/>
              </a:rPr>
              <a:t>→  Los costos de estampado son configurables en base de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64008" cy="13716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29184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A26769"/>
                </a:solidFill>
                <a:latin typeface="Calibri"/>
              </a:rPr>
              <a:t>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5844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El joven valora la autoexpresión y confía en las reseñas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050791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A26769"/>
                </a:solidFill>
                <a:latin typeface="Calibri"/>
              </a:rPr>
              <a:t>→  Origina el personalizador (M03) y las reseñas verificadas (M09)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64008" cy="137160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4" y="329184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4E7A5A"/>
                </a:solidFill>
                <a:latin typeface="Calibri"/>
              </a:rPr>
              <a:t>TECNOLÓGICO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5844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Estampado DTF accesible para tiradas cortas y Java EE maduro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050791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E7A5A"/>
                </a:solidFill>
                <a:latin typeface="Calibri"/>
              </a:rPr>
              <a:t>→  Hace viable producir desde una unidad; sustenta Tomcat y Docker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81728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681728"/>
            <a:ext cx="64008" cy="137160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86460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8A6D3B"/>
                </a:solidFill>
                <a:latin typeface="Calibri"/>
              </a:rPr>
              <a:t>ECOLÓGICO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572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Presión por reducir el desperdicio textil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62356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6D3B"/>
                </a:solidFill>
                <a:latin typeface="Calibri"/>
              </a:rPr>
              <a:t>→  Producir bajo demanda evita el sobrestock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681728"/>
            <a:ext cx="5349240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681728"/>
            <a:ext cx="64008" cy="13716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486460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00">
                <a:solidFill>
                  <a:srgbClr val="6D2E46"/>
                </a:solidFill>
                <a:latin typeface="Calibri"/>
              </a:rPr>
              <a:t>LEGAL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515721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Ley 29733 de Protección de Datos Personales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562356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D2E46"/>
                </a:solidFill>
                <a:latin typeface="Calibri"/>
              </a:rPr>
              <a:t>→  Exige BCrypt, consentimiento y bitácora de auditoría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DIAGNÓSTICO INTERNO Y EXTERNO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Matriz FODA y estrategias cruzadas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285232" cy="1627632"/>
          </a:xfrm>
          <a:prstGeom prst="roundRect">
            <a:avLst>
              <a:gd name="adj" fmla="val 224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285232" cy="329184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FORTALEZAS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56816"/>
            <a:ext cx="4846320" cy="908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6D2E46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Taller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propio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estampado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DTF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vinil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6D2E46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Comunidad de </a:t>
            </a:r>
            <a:r>
              <a:rPr lang="es-PE" sz="1050" dirty="0">
                <a:solidFill>
                  <a:srgbClr val="2B2020"/>
                </a:solidFill>
                <a:latin typeface="Calibri"/>
              </a:rPr>
              <a:t>4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mil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seguidores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6D2E46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Produce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desde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una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unidad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sin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mínimos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6D2E46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Equipo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joven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que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conoce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a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su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público</a:t>
            </a:r>
            <a:endParaRPr sz="105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481328"/>
            <a:ext cx="5285232" cy="1627632"/>
          </a:xfrm>
          <a:prstGeom prst="roundRect">
            <a:avLst>
              <a:gd name="adj" fmla="val 224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481328"/>
            <a:ext cx="5285232" cy="329184"/>
          </a:xfrm>
          <a:prstGeom prst="roundRect">
            <a:avLst>
              <a:gd name="adj" fmla="val 8333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81328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568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3C6E8F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Crece 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comercio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electrónico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moda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3C6E8F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Demanda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polos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promoción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facultad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3C6E8F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Nadie local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ofrece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personalización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línea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3C6E8F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Yape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Plin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masificados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entre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los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jóvenes</a:t>
            </a:r>
            <a:endParaRPr sz="105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5285232" cy="1627632"/>
          </a:xfrm>
          <a:prstGeom prst="roundRect">
            <a:avLst>
              <a:gd name="adj" fmla="val 224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285232" cy="329184"/>
          </a:xfrm>
          <a:prstGeom prst="roundRect">
            <a:avLst>
              <a:gd name="adj" fmla="val 8333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DEBILIDADES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7216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No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existe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canal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venta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digital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propio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Inventario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hojas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cálculo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Cotización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estampado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manual</a:t>
            </a: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Sin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indicadores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ni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registro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ventas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perdidas</a:t>
            </a:r>
            <a:endParaRPr sz="105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285232" cy="1627632"/>
          </a:xfrm>
          <a:prstGeom prst="roundRect">
            <a:avLst>
              <a:gd name="adj" fmla="val 224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285232" cy="329184"/>
          </a:xfrm>
          <a:prstGeom prst="roundRect">
            <a:avLst>
              <a:gd name="adj" fmla="val 8333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3246120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AMENAZAS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216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8A6D3B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Marketplaces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mejor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logística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8A6D3B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Importación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ropa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a bajo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costo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8A6D3B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Estacionalidad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muy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marcada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88"/>
              </a:spcAft>
            </a:pPr>
            <a:r>
              <a:rPr sz="1050" dirty="0">
                <a:solidFill>
                  <a:srgbClr val="8A6D3B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tipo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cambio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encarece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los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insumos</a:t>
            </a:r>
            <a:endParaRPr sz="105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074920"/>
            <a:ext cx="10908792" cy="1024128"/>
          </a:xfrm>
          <a:prstGeom prst="roundRect">
            <a:avLst>
              <a:gd name="adj" fmla="val 3571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D9AFAF"/>
                </a:solidFill>
                <a:latin typeface="Calibri"/>
              </a:rPr>
              <a:t>LA LECTURA CRUZADA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CE2D0"/>
                </a:solidFill>
                <a:latin typeface="Calibri"/>
              </a:rPr>
              <a:t>D1 (no hay canal digital propio) condiciona a todas las demás: sin plataforma no se puede aprovechar la comunidad, ni automatizar la cotización, ni medir nada. El proyecto ataca esa causa raíz.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LA CAUSA RAÍZ</a:t>
            </a:r>
          </a:p>
        </p:txBody>
      </p:sp>
      <p:pic>
        <p:nvPicPr>
          <p:cNvPr id="4" name="Picture 3" descr="01_ishi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71247"/>
            <a:ext cx="10258600" cy="5715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PROBLEMÁTICA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Qué le está costando al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1170432"/>
          </a:xfrm>
          <a:prstGeom prst="roundRect">
            <a:avLst>
              <a:gd name="adj" fmla="val 3125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mbria"/>
              </a:rPr>
              <a:t>Coral Shop no cuenta con un canal de venta digital propio ni con un sistema que integre catálogo, inventario por talla y color y pedidos personalizados. Todo pasa por chats de Instagram y WhatsApp y por hojas de cálculo locales.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587752" cy="1554480"/>
          </a:xfrm>
          <a:prstGeom prst="roundRect">
            <a:avLst>
              <a:gd name="adj" fmla="val 235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999232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200" b="1" i="0">
                <a:solidFill>
                  <a:srgbClr val="A26769"/>
                </a:solidFill>
                <a:latin typeface="Cambria"/>
              </a:rPr>
              <a:t>12 %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12463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de los pedidos se cancela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por sobreventa de tallas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2834640"/>
            <a:ext cx="2587752" cy="1554480"/>
          </a:xfrm>
          <a:prstGeom prst="roundRect">
            <a:avLst>
              <a:gd name="adj" fmla="val 235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38144" y="2999232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200" b="1" i="0">
                <a:solidFill>
                  <a:srgbClr val="3C6E8F"/>
                </a:solidFill>
                <a:latin typeface="Cambria"/>
              </a:rPr>
              <a:t>6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712463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en promedio para cotizar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un estampado por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834640"/>
            <a:ext cx="2587752" cy="1554480"/>
          </a:xfrm>
          <a:prstGeom prst="roundRect">
            <a:avLst>
              <a:gd name="adj" fmla="val 235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2999232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200" b="1" i="0">
                <a:solidFill>
                  <a:srgbClr val="4E7A5A"/>
                </a:solidFill>
                <a:latin typeface="Cambria"/>
              </a:rPr>
              <a:t>3 de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712463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consultas de personalización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se enfrían antes de responder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4272" y="2834640"/>
            <a:ext cx="2587752" cy="1554480"/>
          </a:xfrm>
          <a:prstGeom prst="roundRect">
            <a:avLst>
              <a:gd name="adj" fmla="val 235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4272" y="2999232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200" b="1" i="0">
                <a:solidFill>
                  <a:srgbClr val="8A6D3B"/>
                </a:solidFill>
                <a:latin typeface="Cambr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1" y="3712463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indicadores de venta,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conversión o rotación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10908792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91456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A26769"/>
                </a:solidFill>
                <a:latin typeface="Calibri"/>
              </a:rPr>
              <a:t>CÓMO SE MANIFIESTA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65776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105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>
                <a:solidFill>
                  <a:srgbClr val="2B2020"/>
                </a:solidFill>
                <a:latin typeface="Calibri"/>
              </a:rPr>
              <a:t>Pedidos por chat sin formato: </a:t>
            </a:r>
            <a:r>
              <a:rPr sz="1050">
                <a:solidFill>
                  <a:srgbClr val="2B2020"/>
                </a:solidFill>
                <a:latin typeface="Calibri"/>
              </a:rPr>
              <a:t>errores de tipeo en talla, color y dirección, y reprocesos en el taller.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105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>
                <a:solidFill>
                  <a:srgbClr val="2B2020"/>
                </a:solidFill>
                <a:latin typeface="Calibri"/>
              </a:rPr>
              <a:t>El catálogo publicado no coincide con la existencia real: </a:t>
            </a:r>
            <a:r>
              <a:rPr sz="1050">
                <a:solidFill>
                  <a:srgbClr val="2B2020"/>
                </a:solidFill>
                <a:latin typeface="Calibri"/>
              </a:rPr>
              <a:t>cada persona lleva su propia hoja de cálculo.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1050">
                <a:solidFill>
                  <a:srgbClr val="A26769"/>
                </a:solidFill>
                <a:latin typeface="Calibri"/>
              </a:rPr>
              <a:t>▪  </a:t>
            </a:r>
            <a:r>
              <a:rPr sz="1050" b="1">
                <a:solidFill>
                  <a:srgbClr val="2B2020"/>
                </a:solidFill>
                <a:latin typeface="Calibri"/>
              </a:rPr>
              <a:t>Atención de 9 a 19 horas: </a:t>
            </a:r>
            <a:r>
              <a:rPr sz="1050">
                <a:solidFill>
                  <a:srgbClr val="2B2020"/>
                </a:solidFill>
                <a:latin typeface="Calibri"/>
              </a:rPr>
              <a:t>se pierde la venta de la noche y del fin de semana, que es cuando compra el público joven.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HACIA DÓNDE VAMOS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Objetivo general y objetivos específicos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960120"/>
          </a:xfrm>
          <a:prstGeom prst="roundRect">
            <a:avLst>
              <a:gd name="adj" fmla="val 3809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D9AFAF"/>
                </a:solidFill>
                <a:latin typeface="Calibri"/>
              </a:rP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ECE2D0"/>
                </a:solidFill>
                <a:latin typeface="Calibri"/>
              </a:rPr>
              <a:t>Diseñar e implementar una plataforma web que permita al cliente comprar y personalizar prendas en línea, y a la empresa gestionar catálogo, inventario por variante y el ciclo completo del pedido.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429000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9536" y="2916936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91693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6440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6D2E46"/>
                </a:solidFill>
                <a:latin typeface="Cambria"/>
              </a:rPr>
              <a:t>Tienda virtual operativa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68503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Meta:  80 % de pedidos por la web al 3.er 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3429000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2856" y="2916936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91693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OE-2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6440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A26769"/>
                </a:solidFill>
                <a:latin typeface="Cambria"/>
              </a:rPr>
              <a:t>Personalizador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68503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Meta:  De 6 horas a menos de 1 minuto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697480"/>
            <a:ext cx="3429000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6175" y="2916936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5" y="291693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OE-3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326440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3C6E8F"/>
                </a:solidFill>
                <a:latin typeface="Cambria"/>
              </a:rPr>
              <a:t>Inventario por variante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68503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Meta:  Cancelaciones por stock: de 12 % a &lt; 2 %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3429000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9536" y="4700016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470001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OE-4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04748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4E7A5A"/>
                </a:solidFill>
                <a:latin typeface="Cambria"/>
              </a:rPr>
              <a:t>Tablero e informes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46811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Meta:  8 indicadores actualizados al día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480560"/>
            <a:ext cx="3429000" cy="1481328"/>
          </a:xfrm>
          <a:prstGeom prst="roundRect">
            <a:avLst>
              <a:gd name="adj" fmla="val 246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62856" y="4700016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470001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OE-5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504748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8A6D3B"/>
                </a:solidFill>
                <a:latin typeface="Cambria"/>
              </a:rPr>
              <a:t>Seguridad y trazabilidad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5468112"/>
            <a:ext cx="29992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Meta:  100 % de acciones en bitácora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Qué vamos a construir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440680" cy="1965960"/>
          </a:xfrm>
          <a:prstGeom prst="roundRect">
            <a:avLst>
              <a:gd name="adj" fmla="val 186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64008" cy="196596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7824" y="171907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7190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691640"/>
            <a:ext cx="40142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3C6E8F"/>
                </a:solidFill>
                <a:latin typeface="Cambria"/>
              </a:rPr>
              <a:t>coral_shop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21408"/>
            <a:ext cx="4965192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Aplicación de página única en React 19 + Vite. Catálogo, ficha de producto, personalizador de estampado, carrito, checkout y panel administrativo.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481328"/>
            <a:ext cx="5440680" cy="1965960"/>
          </a:xfrm>
          <a:prstGeom prst="roundRect">
            <a:avLst>
              <a:gd name="adj" fmla="val 186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08192" y="1481328"/>
            <a:ext cx="64008" cy="196596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45936" y="1719072"/>
            <a:ext cx="868680" cy="237744"/>
          </a:xfrm>
          <a:prstGeom prst="roundRect">
            <a:avLst>
              <a:gd name="adj" fmla="val 11538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7190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3" y="1691640"/>
            <a:ext cx="40142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coral_shop_backend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121408"/>
            <a:ext cx="4965192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Aplicación Java sobre Apache Tomcat. API REST en tres capas: Servlets como controlador, servicios con las reglas y DAO sobre JDBC. PostgreSQL de 28 tablas.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10908792" cy="2487168"/>
          </a:xfrm>
          <a:prstGeom prst="roundRect">
            <a:avLst>
              <a:gd name="adj" fmla="val 147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9AFAF"/>
                </a:solidFill>
                <a:latin typeface="Calibri"/>
              </a:rPr>
              <a:t>LAS DOS DECISIONES QUE LA HACEN DISTINTA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87952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3D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4389120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ECE2D0"/>
                </a:solidFill>
                <a:latin typeface="Cambria"/>
              </a:rPr>
              <a:t>El stock vive en la variante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773168"/>
            <a:ext cx="4526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Un polo negro talla M y uno negro talla L son existencias independientes, cada una con su SKU y su stock. Es lo que corta de raíz el 12 % de cancelaciones por sobreventa.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187952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3D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4389120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ECE2D0"/>
                </a:solidFill>
                <a:latin typeface="Cambria"/>
              </a:rPr>
              <a:t>El personalizador en línea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773168"/>
            <a:ext cx="4526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El cliente compone su arte, lo ve sobre la prenda y conoce el precio final sin esperar a nadie. Ese diseño viaja al taller convertido en una orden de producción trazable.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Qué entra y qué no en esta solución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577840" cy="4617720"/>
          </a:xfrm>
          <a:prstGeom prst="roundRect">
            <a:avLst>
              <a:gd name="adj" fmla="val 79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577840" cy="365760"/>
          </a:xfrm>
          <a:prstGeom prst="roundRect">
            <a:avLst>
              <a:gd name="adj" fmla="val 7500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INCLUIDO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5120640" cy="25140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Tienda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pública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catálogo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búsqueda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filtros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stock real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por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variante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Personalizador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vista previa, carga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arte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recargo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automático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Carrito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invitado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usuario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favoritos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cupones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Checkout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direcciones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modalidades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entrega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confirmación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Cuenta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: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registro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JWT,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perfil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historial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Mis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diseños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Backoffice: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tablero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CRUD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catálogo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inventario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kardex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pedidos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Aprobación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arte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máquina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estados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pedido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Usuarios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roles,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cupones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envíos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,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reportes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auditoría</a:t>
            </a:r>
            <a:endParaRPr lang="es-PE"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lang="es-MX" sz="1050" dirty="0">
                <a:solidFill>
                  <a:srgbClr val="A26769"/>
                </a:solidFill>
              </a:rPr>
              <a:t>▪  </a:t>
            </a:r>
            <a:r>
              <a:rPr lang="es-MX" sz="1050" dirty="0">
                <a:solidFill>
                  <a:srgbClr val="2B2020"/>
                </a:solidFill>
              </a:rPr>
              <a:t>Pasarela de pagos real (el pago se simula y se registra)</a:t>
            </a: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lang="es-MX" sz="1050" dirty="0">
                <a:solidFill>
                  <a:srgbClr val="A26769"/>
                </a:solidFill>
              </a:rPr>
              <a:t>▪  </a:t>
            </a:r>
            <a:r>
              <a:rPr lang="es-MX" sz="1050" dirty="0">
                <a:solidFill>
                  <a:srgbClr val="2B2020"/>
                </a:solidFill>
              </a:rPr>
              <a:t>Envío automático de correos (los avisos van a la bandeja del sistema)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81328"/>
            <a:ext cx="5148072" cy="4617720"/>
          </a:xfrm>
          <a:prstGeom prst="roundRect">
            <a:avLst>
              <a:gd name="adj" fmla="val 792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481328"/>
            <a:ext cx="5148072" cy="365760"/>
          </a:xfrm>
          <a:prstGeom prst="roundRect">
            <a:avLst>
              <a:gd name="adj" fmla="val 75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FUERA DE ESTA VERSIÓN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029968"/>
            <a:ext cx="4663440" cy="12232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Facturación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electrónica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ante SUNAT</a:t>
            </a: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Rastreo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satelital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paquete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(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sí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se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registra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el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número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guía</a:t>
            </a:r>
            <a:r>
              <a:rPr sz="1050" dirty="0">
                <a:solidFill>
                  <a:srgbClr val="2B2020"/>
                </a:solidFill>
                <a:latin typeface="Calibri"/>
              </a:rPr>
              <a:t>)</a:t>
            </a: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Inicio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sesión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redes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sociales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Módulo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contable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de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planillas</a:t>
            </a:r>
            <a:endParaRPr sz="105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8000"/>
              </a:lnSpc>
              <a:spcAft>
                <a:spcPts val="360"/>
              </a:spcAft>
            </a:pPr>
            <a:r>
              <a:rPr sz="1050" dirty="0">
                <a:solidFill>
                  <a:srgbClr val="A26769"/>
                </a:solidFill>
                <a:latin typeface="Calibri"/>
              </a:rPr>
              <a:t>▪  </a:t>
            </a:r>
            <a:r>
              <a:rPr sz="1050" dirty="0">
                <a:solidFill>
                  <a:srgbClr val="2B2020"/>
                </a:solidFill>
                <a:latin typeface="Calibri"/>
              </a:rPr>
              <a:t>Editor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gráfico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avanzado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con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capas</a:t>
            </a:r>
            <a:r>
              <a:rPr sz="1050" dirty="0">
                <a:solidFill>
                  <a:srgbClr val="2B2020"/>
                </a:solidFill>
                <a:latin typeface="Calibri"/>
              </a:rPr>
              <a:t> y </a:t>
            </a:r>
            <a:r>
              <a:rPr sz="1050" dirty="0" err="1">
                <a:solidFill>
                  <a:srgbClr val="2B2020"/>
                </a:solidFill>
                <a:latin typeface="Calibri"/>
              </a:rPr>
              <a:t>filtros</a:t>
            </a:r>
            <a:endParaRPr sz="105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 que puede hacer el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34924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64008" cy="219456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7824" y="16824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6824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M01-M02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5506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3C6E8F"/>
                </a:solidFill>
                <a:latin typeface="Cambria"/>
              </a:rPr>
              <a:t>Explorar y elegir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3C6E8F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Catálogo con búsqueda, filtros por categoría, talla, color y precio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3C6E8F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Orden por relevancia, precio, novedad o valoración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3C6E8F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Ficha con galería, guía de tallas y stock real de cada variante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3C6E8F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Las combinaciones agotadas se muestran deshabilitadas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3C6E8F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Hasta cuatro productos relacionados de la misma categoría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34924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64008" cy="219456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1384" y="16824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16824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5506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26769"/>
                </a:solidFill>
                <a:latin typeface="Cambria"/>
              </a:rPr>
              <a:t>Personalizar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048256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A26769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Elegir zona (pecho, espalda, manga), técnica (DTF, serigrafía, vinil, bordado) y tamaño (A5, A4, A3)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A26769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Subir una imagen o escribir un texto con tipografía y color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A26769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Vista previa del estampado sobre la prenda elegida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A26769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Recargo calculado al instante y guardado en Mis diseños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A26769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Solo PNG o JPG de hasta 5 MB: el resto se rechaza indicando el motivo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58768"/>
            <a:ext cx="534924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64008" cy="219456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77824" y="405993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5993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M04-M07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325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E7A5A"/>
                </a:solidFill>
                <a:latin typeface="Cambria"/>
              </a:rPr>
              <a:t>Comprar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425696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4E7A5A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Carrito de invitado que se fusiona con la cuenta al iniciar sesión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4E7A5A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Favoritos, cupones de descuento y cálculo del envío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4E7A5A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Checkout con libreta de direcciones y pago simulado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4E7A5A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Código de pedido CS-2026-000123 al confirmar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4E7A5A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Si una talla se agotó mientras compraba, el pedido no se crea y el carrito queda intacto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58768"/>
            <a:ext cx="534924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858768"/>
            <a:ext cx="64008" cy="219456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01384" y="405993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405993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M08-M10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0325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A6D3B"/>
                </a:solidFill>
                <a:latin typeface="Cambria"/>
              </a:rPr>
              <a:t>Seguir y opinar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4425696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8A6D3B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Estado del pedido con su línea de tiempo completa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8A6D3B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Notificación en la bandeja ante cada cambio de estado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8A6D3B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Reseña solo si compró el producto y ya lo recibió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8A6D3B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Perfil, direcciones, historial y diseños guardados</a:t>
            </a:r>
          </a:p>
          <a:p>
            <a:pPr>
              <a:lnSpc>
                <a:spcPct val="125000"/>
              </a:lnSpc>
              <a:spcAft>
                <a:spcPts val="252"/>
              </a:spcAft>
            </a:pPr>
            <a:r>
              <a:rPr sz="1000">
                <a:solidFill>
                  <a:srgbClr val="8A6D3B"/>
                </a:solidFill>
                <a:latin typeface="Calibri"/>
              </a:rPr>
              <a:t>▪  </a:t>
            </a:r>
            <a:r>
              <a:rPr sz="1000">
                <a:solidFill>
                  <a:srgbClr val="2B2020"/>
                </a:solidFill>
                <a:latin typeface="Calibri"/>
              </a:rPr>
              <a:t>Recuperación de contraseña con token de un solo uso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 que puede hacer la tienda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64008" cy="219456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" y="16824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824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Tablero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140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Ventas del día y del mes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Pedidos por estado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Top de productos vendidos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Alertas de stock crítico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8132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81328"/>
            <a:ext cx="64008" cy="219456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2856" y="16824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6824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M12-M13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02996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3C6E8F"/>
                </a:solidFill>
                <a:latin typeface="Cambria"/>
              </a:rPr>
              <a:t>Catálogo y maestros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140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3C6E8F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CRUD de categorías jerárquicas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3C6E8F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Productos con varias imágenes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3C6E8F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Variantes con SKU generado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3C6E8F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Tallas, colores, técnicas y zonas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8132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481328"/>
            <a:ext cx="64008" cy="219456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6175" y="16824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5" y="16824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02996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4E7A5A"/>
                </a:solidFill>
                <a:latin typeface="Cambria"/>
              </a:rPr>
              <a:t>Inventario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414016"/>
            <a:ext cx="3017520" cy="602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Ajustes</a:t>
            </a:r>
            <a:r>
              <a:rPr sz="980" dirty="0">
                <a:solidFill>
                  <a:srgbClr val="2B2020"/>
                </a:solidFill>
                <a:latin typeface="Calibri"/>
              </a:rPr>
              <a:t> de stock con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motivo</a:t>
            </a:r>
            <a:endParaRPr sz="98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Alertas</a:t>
            </a:r>
            <a:r>
              <a:rPr sz="980" dirty="0">
                <a:solidFill>
                  <a:srgbClr val="2B2020"/>
                </a:solidFill>
                <a:latin typeface="Calibri"/>
              </a:rPr>
              <a:t> de stock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mínimo</a:t>
            </a:r>
            <a:endParaRPr sz="98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Reserva</a:t>
            </a:r>
            <a:r>
              <a:rPr sz="980" dirty="0">
                <a:solidFill>
                  <a:srgbClr val="2B2020"/>
                </a:solidFill>
                <a:latin typeface="Calibri"/>
              </a:rPr>
              <a:t> y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liberación</a:t>
            </a:r>
            <a:r>
              <a:rPr sz="980" dirty="0">
                <a:solidFill>
                  <a:srgbClr val="2B2020"/>
                </a:solidFill>
                <a:latin typeface="Calibri"/>
              </a:rPr>
              <a:t>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por</a:t>
            </a:r>
            <a:r>
              <a:rPr sz="980" dirty="0">
                <a:solidFill>
                  <a:srgbClr val="2B2020"/>
                </a:solidFill>
                <a:latin typeface="Calibri"/>
              </a:rPr>
              <a:t> </a:t>
            </a:r>
            <a:r>
              <a:rPr sz="980" dirty="0" err="1">
                <a:solidFill>
                  <a:srgbClr val="2B2020"/>
                </a:solidFill>
                <a:latin typeface="Calibri"/>
              </a:rPr>
              <a:t>pedido</a:t>
            </a:r>
            <a:endParaRPr sz="980" dirty="0">
              <a:solidFill>
                <a:srgbClr val="2B2020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385876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858768"/>
            <a:ext cx="64008" cy="219456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9536" y="405993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05993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4074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A26769"/>
                </a:solidFill>
                <a:latin typeface="Cambria"/>
              </a:rPr>
              <a:t>Pedidos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7914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A26769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Bandeja filtrable por estado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A26769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Cambio de estado validado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A26769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Aprobación del arte del cliente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A26769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Historial con responsable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85876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3858768"/>
            <a:ext cx="64008" cy="219456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62856" y="405993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62856" y="405993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M16-M18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074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8A6D3B"/>
                </a:solidFill>
                <a:latin typeface="Cambria"/>
              </a:rPr>
              <a:t>Gobierno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7914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8A6D3B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Usuarios, roles y permisos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8A6D3B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Campañas de cupones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8A6D3B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Modalidades y costos de envío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8A6D3B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Baja lógica, nunca borrado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858768"/>
            <a:ext cx="3429000" cy="2194560"/>
          </a:xfrm>
          <a:prstGeom prst="roundRect">
            <a:avLst>
              <a:gd name="adj" fmla="val 1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19" y="3858768"/>
            <a:ext cx="64008" cy="219456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66175" y="405993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66175" y="405993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M19-M20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4074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Reportes y auditoría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47914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Ventas por periodo y categoría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Productos más vendidos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Exportación a CSV</a:t>
            </a:r>
          </a:p>
          <a:p>
            <a:pPr>
              <a:lnSpc>
                <a:spcPct val="125000"/>
              </a:lnSpc>
              <a:spcAft>
                <a:spcPts val="216"/>
              </a:spcAft>
            </a:pPr>
            <a:r>
              <a:rPr sz="980">
                <a:solidFill>
                  <a:srgbClr val="6D2E46"/>
                </a:solidFill>
                <a:latin typeface="Calibri"/>
              </a:rPr>
              <a:t>▪  </a:t>
            </a:r>
            <a:r>
              <a:rPr sz="980">
                <a:solidFill>
                  <a:srgbClr val="2B2020"/>
                </a:solidFill>
                <a:latin typeface="Calibri"/>
              </a:rPr>
              <a:t>Bitácora de toda acción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4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Tecnologías y su sustento en las clases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520440" cy="4617720"/>
          </a:xfrm>
          <a:prstGeom prst="roundRect">
            <a:avLst>
              <a:gd name="adj" fmla="val 103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520440" cy="365760"/>
          </a:xfrm>
          <a:prstGeom prst="roundRect">
            <a:avLst>
              <a:gd name="adj" fmla="val 7500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React 19 + Vite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Tailwind CSS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React Router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Context API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Fetch sobre /api/v1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50">
                <a:solidFill>
                  <a:srgbClr val="3C6E8F"/>
                </a:solidFill>
                <a:latin typeface="Calibri"/>
              </a:rPr>
              <a:t>▪  </a:t>
            </a:r>
            <a:r>
              <a:rPr sz="1150">
                <a:solidFill>
                  <a:srgbClr val="2B2020"/>
                </a:solidFill>
                <a:latin typeface="Calibri"/>
              </a:rPr>
              <a:t>Desplegado en Netlify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6E5B5B"/>
                </a:solidFill>
                <a:latin typeface="Calibri"/>
              </a:rPr>
              <a:t>Decisión del equipo: una SPA evita recargar la página en cada filtro del catálogo y es lo que hace posible un personalizador de estampado fluido.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81328"/>
            <a:ext cx="4206240" cy="4617720"/>
          </a:xfrm>
          <a:prstGeom prst="roundRect">
            <a:avLst>
              <a:gd name="adj" fmla="val 869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15968" y="1481328"/>
            <a:ext cx="4206240" cy="365760"/>
          </a:xfrm>
          <a:prstGeom prst="roundRect">
            <a:avLst>
              <a:gd name="adj" fmla="val 7500"/>
            </a:avLst>
          </a:prstGeom>
          <a:solidFill>
            <a:srgbClr val="3D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4813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BACKEND  ·  JAVA EE DEL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Java 17 + JVM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9424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S01 · Arquitectura 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9464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Jakarta Servlets (controlador)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25496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S01 · Servlet = Controlador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4553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JavaBeans (modelo)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01568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S01 · Bean =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21608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Apache Tomcat 10 (web container)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40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S03 · Web Server vs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976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JDBC: PreparedStatement y ResultSet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53712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S03 · JDBC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HttpSession y JSESSIONID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29784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Clase 4 · Session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49824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CE2D0"/>
                </a:solidFill>
                <a:latin typeface="Calibri"/>
              </a:rPr>
              <a:t>Docker y Docker 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705856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D9AFAF"/>
                </a:solidFill>
                <a:latin typeface="Calibri"/>
              </a:rPr>
              <a:t>S02 · Contenedores web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7656" y="1481328"/>
            <a:ext cx="2871216" cy="4617720"/>
          </a:xfrm>
          <a:prstGeom prst="roundRect">
            <a:avLst>
              <a:gd name="adj" fmla="val 1273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77656" y="1481328"/>
            <a:ext cx="2871216" cy="365760"/>
          </a:xfrm>
          <a:prstGeom prst="roundRect">
            <a:avLst>
              <a:gd name="adj" fmla="val 7500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77656" y="1481328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DATOS Y CALIDAD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011680"/>
            <a:ext cx="2414016" cy="198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>
                <a:solidFill>
                  <a:srgbClr val="2B2020"/>
                </a:solidFill>
                <a:latin typeface="Calibri"/>
              </a:rPr>
              <a:t>PostgreSQL 16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B2020"/>
                </a:solidFill>
                <a:latin typeface="Calibri"/>
              </a:rPr>
              <a:t>HikariCP</a:t>
            </a:r>
            <a:r>
              <a:rPr sz="1100" dirty="0">
                <a:solidFill>
                  <a:srgbClr val="2B2020"/>
                </a:solidFill>
                <a:latin typeface="Calibri"/>
              </a:rPr>
              <a:t> (pool)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B2020"/>
                </a:solidFill>
                <a:latin typeface="Calibri"/>
              </a:rPr>
              <a:t>Gson</a:t>
            </a:r>
            <a:r>
              <a:rPr sz="1100" dirty="0">
                <a:solidFill>
                  <a:srgbClr val="2B2020"/>
                </a:solidFill>
                <a:latin typeface="Calibri"/>
              </a:rPr>
              <a:t> (JSON)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>
                <a:solidFill>
                  <a:srgbClr val="2B2020"/>
                </a:solidFill>
                <a:latin typeface="Calibri"/>
              </a:rPr>
              <a:t>JWT + </a:t>
            </a:r>
            <a:r>
              <a:rPr sz="1100" dirty="0" err="1">
                <a:solidFill>
                  <a:srgbClr val="2B2020"/>
                </a:solidFill>
                <a:latin typeface="Calibri"/>
              </a:rPr>
              <a:t>BCrypt</a:t>
            </a:r>
            <a:endParaRPr sz="1100" dirty="0">
              <a:solidFill>
                <a:srgbClr val="2B2020"/>
              </a:solidFill>
              <a:latin typeface="Calibri"/>
            </a:endParaRP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>
                <a:solidFill>
                  <a:srgbClr val="2B2020"/>
                </a:solidFill>
                <a:latin typeface="Calibri"/>
              </a:rPr>
              <a:t>Maven (WAR)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>
                <a:solidFill>
                  <a:srgbClr val="2B2020"/>
                </a:solidFill>
                <a:latin typeface="Calibri"/>
              </a:rPr>
              <a:t>Postman y Swagger</a:t>
            </a:r>
          </a:p>
          <a:p>
            <a:pPr>
              <a:lnSpc>
                <a:spcPct val="130000"/>
              </a:lnSpc>
              <a:spcAft>
                <a:spcPts val="648"/>
              </a:spcAft>
            </a:pPr>
            <a:r>
              <a:rPr sz="1100" dirty="0">
                <a:solidFill>
                  <a:srgbClr val="4E7A5A"/>
                </a:solidFill>
                <a:latin typeface="Calibri"/>
              </a:rPr>
              <a:t>▪  </a:t>
            </a:r>
            <a:r>
              <a:rPr sz="1100" dirty="0">
                <a:solidFill>
                  <a:srgbClr val="2B2020"/>
                </a:solidFill>
                <a:latin typeface="Calibri"/>
              </a:rPr>
              <a:t>Git y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441" y="196412"/>
            <a:ext cx="10881360" cy="30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b="1" i="0" dirty="0" err="1">
                <a:solidFill>
                  <a:srgbClr val="6D2E46"/>
                </a:solidFill>
                <a:latin typeface="Cambria"/>
              </a:rPr>
              <a:t>Cliente-servidor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</a:t>
            </a:r>
            <a:r>
              <a:rPr b="1" i="0" dirty="0" err="1">
                <a:solidFill>
                  <a:srgbClr val="6D2E46"/>
                </a:solidFill>
                <a:latin typeface="Cambria"/>
              </a:rPr>
              <a:t>en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</a:t>
            </a:r>
            <a:r>
              <a:rPr b="1" i="0" dirty="0" err="1">
                <a:solidFill>
                  <a:srgbClr val="6D2E46"/>
                </a:solidFill>
                <a:latin typeface="Cambria"/>
              </a:rPr>
              <a:t>tres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</a:t>
            </a:r>
            <a:r>
              <a:rPr b="1" i="0" dirty="0" err="1">
                <a:solidFill>
                  <a:srgbClr val="6D2E46"/>
                </a:solidFill>
                <a:latin typeface="Cambria"/>
              </a:rPr>
              <a:t>capas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</a:t>
            </a:r>
            <a:r>
              <a:rPr b="1" i="0" dirty="0" err="1">
                <a:solidFill>
                  <a:srgbClr val="6D2E46"/>
                </a:solidFill>
                <a:latin typeface="Cambria"/>
              </a:rPr>
              <a:t>sobre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un </a:t>
            </a:r>
            <a:r>
              <a:rPr b="1" i="0" dirty="0" err="1">
                <a:solidFill>
                  <a:srgbClr val="6D2E46"/>
                </a:solidFill>
                <a:latin typeface="Cambria"/>
              </a:rPr>
              <a:t>contenedor</a:t>
            </a:r>
            <a:r>
              <a:rPr b="1" i="0" dirty="0">
                <a:solidFill>
                  <a:srgbClr val="6D2E46"/>
                </a:solidFill>
                <a:latin typeface="Cambria"/>
              </a:rPr>
              <a:t> web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17 / 28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172CCA-303A-71CD-BF3D-10D18706F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87" y="573416"/>
            <a:ext cx="7557025" cy="60712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4 · JUSTIFICACIÓN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Cómo aplicamos el MVC visto en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B2020"/>
                </a:solidFill>
                <a:latin typeface="Calibri"/>
              </a:rPr>
              <a:t>La sesión 1 cierra estableciendo la correspondencia: JavaBean es el Modelo, el Servlet es el Controlador y el JSP es la Vista. La conservamos con una sola adaptación.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29000" cy="2377440"/>
          </a:xfrm>
          <a:prstGeom prst="roundRect">
            <a:avLst>
              <a:gd name="adj" fmla="val 153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365760"/>
          </a:xfrm>
          <a:prstGeom prst="roundRect">
            <a:avLst>
              <a:gd name="adj" fmla="val 7500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97480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4E7A5A"/>
                </a:solidFill>
                <a:latin typeface="Cambria"/>
              </a:rPr>
              <a:t>JavaBean por tabla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E5B5B"/>
                </a:solidFill>
                <a:latin typeface="Calibri"/>
              </a:rPr>
              <a:t>Idéntico a la teoría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60"/>
            <a:ext cx="2953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paquete model + DTO para la API.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Atributos privados con getters y setters, sin lógica de negocio.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429000" cy="2377440"/>
          </a:xfrm>
          <a:prstGeom prst="roundRect">
            <a:avLst>
              <a:gd name="adj" fmla="val 153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429000" cy="365760"/>
          </a:xfrm>
          <a:prstGeom prst="roundRect">
            <a:avLst>
              <a:gd name="adj" fmla="val 75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148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CONTROLADOR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697480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Servlet por recurso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09067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E5B5B"/>
                </a:solidFill>
                <a:latin typeface="Calibri"/>
              </a:rPr>
              <a:t>Idéntico a la teoría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66160"/>
            <a:ext cx="2953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paquete web.controller + filtros.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Lee la petición, delega en el servicio y serializa la respuesta.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148840"/>
            <a:ext cx="3429000" cy="2377440"/>
          </a:xfrm>
          <a:prstGeom prst="roundRect">
            <a:avLst>
              <a:gd name="adj" fmla="val 153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19" y="2148840"/>
            <a:ext cx="3429000" cy="365760"/>
          </a:xfrm>
          <a:prstGeom prst="roundRect">
            <a:avLst>
              <a:gd name="adj" fmla="val 75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9" y="2148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697480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A26769"/>
                </a:solidFill>
                <a:latin typeface="Cambria"/>
              </a:rPr>
              <a:t>JSP con EL y JSTL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309067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E5B5B"/>
                </a:solidFill>
                <a:latin typeface="Calibri"/>
              </a:rPr>
              <a:t>Adaptado: React en el navegador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566160"/>
            <a:ext cx="2953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El servlet responde JSON en lugar de hacer forward a un JSP, porque el cliente es una aplicación de página única.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266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332720" cy="163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s-PE" sz="950" b="1" spc="150" dirty="0">
                <a:solidFill>
                  <a:srgbClr val="D9AFAF"/>
                </a:solidFill>
                <a:latin typeface="Calibri"/>
              </a:rPr>
              <a:t>LO IMPORTANTE!!!!</a:t>
            </a:r>
            <a:endParaRPr sz="950" b="1" i="0" spc="150" dirty="0">
              <a:solidFill>
                <a:srgbClr val="D9AFA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CE2D0"/>
                </a:solidFill>
                <a:latin typeface="Calibri"/>
              </a:rPr>
              <a:t>El Servlet sigue siendo el Controlador y sigue sin contener reglas de negocio ni SQL: lo único que cambia es el formato de la respuesta, de HTML a JSON. Añadimos además una capa de servicio entre el controlador y el acceso a datos, para no concentrar la lógica en el servlet.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5 · MODELO ENTIDAD-RELACIÓN (1 DE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Usuarios, catálogo e inventario</a:t>
            </a:r>
          </a:p>
        </p:txBody>
      </p:sp>
      <p:pic>
        <p:nvPicPr>
          <p:cNvPr id="4" name="Picture 3" descr="08_er_usuarios_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10" y="1371600"/>
            <a:ext cx="9515475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5 · 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Las decisiones que sostienen el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2057400"/>
          </a:xfrm>
          <a:prstGeom prst="roundRect">
            <a:avLst>
              <a:gd name="adj" fmla="val 177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4008" cy="205740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792224"/>
            <a:ext cx="4873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3C6E8F"/>
                </a:solidFill>
                <a:latin typeface="Cambria"/>
              </a:rPr>
              <a:t>El stock vive en la variante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487375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product guarda el modelo de prenda; product_variant guarda cada combinación real de talla y color con su SKU, su stock y su precio propio. UNIQUE (product_id, size_id, color_id).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49240" cy="2057400"/>
          </a:xfrm>
          <a:prstGeom prst="roundRect">
            <a:avLst>
              <a:gd name="adj" fmla="val 177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64008" cy="205740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1792224"/>
            <a:ext cx="4873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E7A5A"/>
                </a:solidFill>
                <a:latin typeface="Cambria"/>
              </a:rPr>
              <a:t>El pedido es inmutable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194560"/>
            <a:ext cx="487375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order_item copia nombre, SKU, talla, color y precio al momento de comprar. Si mañana sube el precio, los pedidos ya emitidos no cambian. Desnormalización consciente.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349240" cy="2057400"/>
          </a:xfrm>
          <a:prstGeom prst="roundRect">
            <a:avLst>
              <a:gd name="adj" fmla="val 177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64008" cy="20574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078224"/>
            <a:ext cx="4873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26769"/>
                </a:solidFill>
                <a:latin typeface="Cambria"/>
              </a:rPr>
              <a:t>La personalización es una entidad propia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480560"/>
            <a:ext cx="487375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customization guarda la configuración concreta del estampado y puede reutilizar un design de Mis diseños. La misma estructura sirve al carrito y al pedido.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349240" cy="2057400"/>
          </a:xfrm>
          <a:prstGeom prst="roundRect">
            <a:avLst>
              <a:gd name="adj" fmla="val 1777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64008" cy="205740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4078224"/>
            <a:ext cx="4873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A6D3B"/>
                </a:solidFill>
                <a:latin typeface="Cambria"/>
              </a:rPr>
              <a:t>Todo movimiento deja rastro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480560"/>
            <a:ext cx="4873752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50" b="0" i="0">
                <a:solidFill>
                  <a:srgbClr val="2B2020"/>
                </a:solidFill>
                <a:latin typeface="Calibri"/>
              </a:rPr>
              <a:t>Ninguna operación cambia el stock sin escribir en inventory_movement el stock anterior, el nuevo, el motivo y el responsable. Lo mismo hacen order_status_history y audit_log.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222 campos  ·  39 claves foráneas  ·  tercera forma normal, con la excepción deliberada de order_item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119" y="84951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6D2E46"/>
                </a:solidFill>
                <a:latin typeface="Cambria"/>
              </a:rPr>
              <a:t>Máquina</a:t>
            </a:r>
            <a:r>
              <a:rPr sz="3000" b="1" i="0" dirty="0">
                <a:solidFill>
                  <a:srgbClr val="6D2E46"/>
                </a:solidFill>
                <a:latin typeface="Cambria"/>
              </a:rPr>
              <a:t> de </a:t>
            </a:r>
            <a:r>
              <a:rPr sz="3000" b="1" i="0" dirty="0" err="1">
                <a:solidFill>
                  <a:srgbClr val="6D2E46"/>
                </a:solidFill>
                <a:latin typeface="Cambria"/>
              </a:rPr>
              <a:t>estados</a:t>
            </a:r>
            <a:r>
              <a:rPr sz="3000" b="1" i="0" dirty="0">
                <a:solidFill>
                  <a:srgbClr val="6D2E46"/>
                </a:solidFill>
                <a:latin typeface="Cambria"/>
              </a:rPr>
              <a:t> del </a:t>
            </a:r>
            <a:r>
              <a:rPr sz="3000" b="1" i="0" dirty="0" err="1">
                <a:solidFill>
                  <a:srgbClr val="6D2E46"/>
                </a:solidFill>
                <a:latin typeface="Cambria"/>
              </a:rPr>
              <a:t>pedido</a:t>
            </a:r>
            <a:endParaRPr sz="3000" b="1" i="0" dirty="0">
              <a:solidFill>
                <a:srgbClr val="6D2E46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24 / 28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915407-1DF8-F788-F50E-33EB86C1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85" y="953728"/>
            <a:ext cx="11059708" cy="43102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-1280160"/>
            <a:ext cx="3474720" cy="347472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D9AFAF"/>
                </a:solidFill>
                <a:latin typeface="Calibri"/>
              </a:rPr>
              <a:t>PARA 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ECE2D0"/>
                </a:solidFill>
                <a:latin typeface="Cambria"/>
              </a:rPr>
              <a:t>Lo que dejamos definido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CE2D0"/>
                </a:solidFill>
                <a:latin typeface="Cambria"/>
              </a:rPr>
              <a:t>Un problema con causa raíz identificada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1810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D8C6C0"/>
                </a:solidFill>
                <a:latin typeface="Calibri"/>
              </a:rPr>
              <a:t>Ishikawa, Canvas, PESTEL y FODA cruzado apuntan al mismo vacío: no hay canal propio.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CE2D0"/>
                </a:solidFill>
                <a:latin typeface="Cambria"/>
              </a:rPr>
              <a:t>Una tienda con las funcionalidades cerradas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1810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D8C6C0"/>
                </a:solidFill>
                <a:latin typeface="Calibri"/>
              </a:rPr>
              <a:t>20 módulos, 49 requerimientos funcionales, 15 no funcionales y 14 reglas de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CE2D0"/>
                </a:solidFill>
                <a:latin typeface="Cambria"/>
              </a:rPr>
              <a:t>Una arquitectura justificada en la teoría del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3542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D8C6C0"/>
                </a:solidFill>
                <a:latin typeface="Calibri"/>
              </a:rPr>
              <a:t>Servlets, JavaBeans, JDBC y Tomcat, en tres capas y con la Vista externalizada a React.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CE2D0"/>
                </a:solidFill>
                <a:latin typeface="Cambria"/>
              </a:rPr>
              <a:t>Un modelo de datos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3542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D8C6C0"/>
                </a:solidFill>
                <a:latin typeface="Calibri"/>
              </a:rPr>
              <a:t>28 tablas, 222 campos y 39 claves foráneas, con su diccionario campo por campo.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D9AFAF"/>
                </a:solidFill>
                <a:latin typeface="Cambria"/>
              </a:rPr>
              <a:t>Gracias.  ¿Preguntas?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63825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D8C6C0"/>
                </a:solidFill>
                <a:latin typeface="Calibri"/>
              </a:rPr>
              <a:t>coral-st.netlify.app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2443</Words>
  <Application>Microsoft Office PowerPoint</Application>
  <PresentationFormat>Panorámica</PresentationFormat>
  <Paragraphs>335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Diego Aaron DAMIAN VALDIVIA</cp:lastModifiedBy>
  <cp:revision>3</cp:revision>
  <dcterms:created xsi:type="dcterms:W3CDTF">2013-01-27T09:14:16Z</dcterms:created>
  <dcterms:modified xsi:type="dcterms:W3CDTF">2026-09-10T00:18:09Z</dcterms:modified>
  <cp:category/>
</cp:coreProperties>
</file>