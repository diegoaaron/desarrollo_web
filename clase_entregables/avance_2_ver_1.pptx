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463040"/>
            <a:ext cx="4389120" cy="43891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UNIVERSIDAD TECNOLÓGICA DEL PERÚ  · 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8412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600" b="1" i="0">
                <a:solidFill>
                  <a:srgbClr val="ECE2D0"/>
                </a:solidFill>
                <a:latin typeface="Cambria"/>
              </a:rPr>
              <a:t>Coral 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0" i="0">
                <a:solidFill>
                  <a:srgbClr val="D9AFAF"/>
                </a:solidFill>
                <a:latin typeface="Cambria"/>
              </a:rPr>
              <a:t>Plataforma de comercio electrónico para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0" i="0">
                <a:solidFill>
                  <a:srgbClr val="D9AFAF"/>
                </a:solidFill>
                <a:latin typeface="Cambria"/>
              </a:rPr>
              <a:t>la venta de ropa juvenil personalizable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10128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D8C6C0"/>
                </a:solidFill>
                <a:latin typeface="Calibri"/>
              </a:rPr>
              <a:t>Avance 2  ·  Arquitectura de la solución: capas, cliente-servidor, MVC y eventos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10149840" cy="1828800"/>
          </a:xfrm>
          <a:prstGeom prst="roundRect">
            <a:avLst>
              <a:gd name="adj" fmla="val 2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42245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00">
                <a:solidFill>
                  <a:srgbClr val="D9AFAF"/>
                </a:solidFill>
                <a:latin typeface="Calibri"/>
              </a:rPr>
              <a:t>CURSO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8056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ECE2D0"/>
                </a:solidFill>
                <a:latin typeface="Calibri"/>
              </a:rPr>
              <a:t>Desarrollo Web Integrado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4224528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00">
                <a:solidFill>
                  <a:srgbClr val="D9AFAF"/>
                </a:solidFill>
                <a:latin typeface="Calibri"/>
              </a:rPr>
              <a:t>DOCENTE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448056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ECE2D0"/>
                </a:solidFill>
                <a:latin typeface="Calibri"/>
              </a:rPr>
              <a:t>Joel Ronald Vilca Chambi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224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00">
                <a:solidFill>
                  <a:srgbClr val="D9AFAF"/>
                </a:solidFill>
                <a:latin typeface="Calibri"/>
              </a:rPr>
              <a:t>AÑO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4805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ECE2D0"/>
                </a:solidFill>
                <a:latin typeface="Calibri"/>
              </a:rPr>
              <a:t>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97433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00">
                <a:solidFill>
                  <a:srgbClr val="D9AFAF"/>
                </a:solidFill>
                <a:latin typeface="Calibri"/>
              </a:rPr>
              <a:t>GRUPO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230368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ECE2D0"/>
                </a:solidFill>
                <a:latin typeface="Calibri"/>
              </a:rPr>
              <a:t>Choquehuanca Marrufo, Liam Lennon  ·  Damián Valdivia, Diego Aarón  ·  Loayza Gerónimo, Juan Franco  ·  Villanueva Montalvo, Apolo Chris  ·  Campos Sulca, Jian Pier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Lo que vamos a recorrer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429000" cy="1783080"/>
          </a:xfrm>
          <a:prstGeom prst="roundRect">
            <a:avLst>
              <a:gd name="adj" fmla="val 2051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96112" y="2020824"/>
            <a:ext cx="384048" cy="384048"/>
          </a:xfrm>
          <a:prstGeom prst="roundRect">
            <a:avLst>
              <a:gd name="adj" fmla="val 7142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20208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6946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6D2E46"/>
                </a:solidFill>
                <a:latin typeface="Cambria"/>
              </a:rPr>
              <a:t>Dónde estamos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5351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Fases terminadas y el caso de los 12 polos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429000" cy="1783080"/>
          </a:xfrm>
          <a:prstGeom prst="roundRect">
            <a:avLst>
              <a:gd name="adj" fmla="val 2051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599432" y="2020824"/>
            <a:ext cx="384048" cy="384048"/>
          </a:xfrm>
          <a:prstGeom prst="roundRect">
            <a:avLst>
              <a:gd name="adj" fmla="val 7142"/>
            </a:avLst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99432" y="20208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56946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A26769"/>
                </a:solidFill>
                <a:latin typeface="Cambria"/>
              </a:rPr>
              <a:t>Arquitectura en capas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95351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El restaurante y el recorrido de un pedido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783080"/>
            <a:ext cx="3429000" cy="1783080"/>
          </a:xfrm>
          <a:prstGeom prst="roundRect">
            <a:avLst>
              <a:gd name="adj" fmla="val 2051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302751" y="2020824"/>
            <a:ext cx="384048" cy="384048"/>
          </a:xfrm>
          <a:prstGeom prst="roundRect">
            <a:avLst>
              <a:gd name="adj" fmla="val 7142"/>
            </a:avLst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02751" y="20208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1" y="256946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3C6E8F"/>
                </a:solidFill>
                <a:latin typeface="Cambria"/>
              </a:rPr>
              <a:t>Cliente-servidor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1" y="295351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Varios clientes, un servidor, una 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31920"/>
            <a:ext cx="3429000" cy="1783080"/>
          </a:xfrm>
          <a:prstGeom prst="roundRect">
            <a:avLst>
              <a:gd name="adj" fmla="val 2051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96112" y="4169663"/>
            <a:ext cx="384048" cy="384048"/>
          </a:xfrm>
          <a:prstGeom prst="roundRect">
            <a:avLst>
              <a:gd name="adj" fmla="val 7142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96112" y="4169663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71830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4E7A5A"/>
                </a:solidFill>
                <a:latin typeface="Cambria"/>
              </a:rPr>
              <a:t>MVC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10235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React como vista, Spring como controlador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931920"/>
            <a:ext cx="3429000" cy="1783080"/>
          </a:xfrm>
          <a:prstGeom prst="roundRect">
            <a:avLst>
              <a:gd name="adj" fmla="val 2051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4599432" y="4169663"/>
            <a:ext cx="384048" cy="384048"/>
          </a:xfrm>
          <a:prstGeom prst="roundRect">
            <a:avLst>
              <a:gd name="adj" fmla="val 7142"/>
            </a:avLst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99432" y="4169663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471830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8A6D3B"/>
                </a:solidFill>
                <a:latin typeface="Cambria"/>
              </a:rPr>
              <a:t>Dirigida por eventos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510235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OrderStatusChanged, la propuesta de la fase 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3931920"/>
            <a:ext cx="3429000" cy="1783080"/>
          </a:xfrm>
          <a:prstGeom prst="roundRect">
            <a:avLst>
              <a:gd name="adj" fmla="val 2051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302751" y="4169663"/>
            <a:ext cx="384048" cy="384048"/>
          </a:xfrm>
          <a:prstGeom prst="roundRect">
            <a:avLst>
              <a:gd name="adj" fmla="val 7142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302751" y="4169663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1" y="471830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6D2E46"/>
                </a:solidFill>
                <a:latin typeface="Cambria"/>
              </a:rPr>
              <a:t>Implementación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1" y="510235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Paquetes, reglas, pruebas y próximos pasos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6E5B5B"/>
                </a:solidFill>
                <a:latin typeface="Calibri"/>
              </a:rPr>
              <a:t>Avance 2  ·  Arquitectura de la solución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1 · DÓNDE ESTAMOS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Tres fases terminadas e integradas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" y="1508760"/>
            <a:ext cx="1485246" cy="1325880"/>
          </a:xfrm>
          <a:prstGeom prst="roundRect">
            <a:avLst>
              <a:gd name="adj" fmla="val 275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22959" y="1664208"/>
            <a:ext cx="384048" cy="384048"/>
          </a:xfrm>
          <a:prstGeom prst="roundRect">
            <a:avLst>
              <a:gd name="adj" fmla="val 7142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1664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57984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B2020"/>
                </a:solidFill>
                <a:latin typeface="Calibri"/>
              </a:rPr>
              <a:t>Ordenar la casa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87168"/>
            <a:ext cx="11926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4E7A5A"/>
                </a:solidFill>
                <a:latin typeface="Calibri"/>
              </a:rPr>
              <a:t>Terminada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35054" y="1508760"/>
            <a:ext cx="1485246" cy="1325880"/>
          </a:xfrm>
          <a:prstGeom prst="roundRect">
            <a:avLst>
              <a:gd name="adj" fmla="val 275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381358" y="1664208"/>
            <a:ext cx="384048" cy="384048"/>
          </a:xfrm>
          <a:prstGeom prst="roundRect">
            <a:avLst>
              <a:gd name="adj" fmla="val 7142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381358" y="1664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1358" y="2157984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B2020"/>
                </a:solidFill>
                <a:latin typeface="Calibri"/>
              </a:rPr>
              <a:t>Modelo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1358" y="2487168"/>
            <a:ext cx="11926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4E7A5A"/>
                </a:solidFill>
                <a:latin typeface="Calibri"/>
              </a:rPr>
              <a:t>Terminada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3453" y="1508760"/>
            <a:ext cx="1485246" cy="1325880"/>
          </a:xfrm>
          <a:prstGeom prst="roundRect">
            <a:avLst>
              <a:gd name="adj" fmla="val 275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3939757" y="1664208"/>
            <a:ext cx="384048" cy="384048"/>
          </a:xfrm>
          <a:prstGeom prst="roundRect">
            <a:avLst>
              <a:gd name="adj" fmla="val 7142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939757" y="1664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9757" y="2157984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B2020"/>
                </a:solidFill>
                <a:latin typeface="Calibri"/>
              </a:rPr>
              <a:t>API de compra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9757" y="2487168"/>
            <a:ext cx="11926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4E7A5A"/>
                </a:solidFill>
                <a:latin typeface="Calibri"/>
              </a:rPr>
              <a:t>Terminada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51852" y="1508760"/>
            <a:ext cx="1485246" cy="1325880"/>
          </a:xfrm>
          <a:prstGeom prst="roundRect">
            <a:avLst>
              <a:gd name="adj" fmla="val 275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498156" y="1664208"/>
            <a:ext cx="384048" cy="384048"/>
          </a:xfrm>
          <a:prstGeom prst="roundRect">
            <a:avLst>
              <a:gd name="adj" fmla="val 7142"/>
            </a:avLst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98156" y="1664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98156" y="2157984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B2020"/>
                </a:solidFill>
                <a:latin typeface="Calibri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98156" y="2487168"/>
            <a:ext cx="11926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A26769"/>
                </a:solidFill>
                <a:latin typeface="Calibri"/>
              </a:rPr>
              <a:t>Siguiente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10251" y="1508760"/>
            <a:ext cx="1485246" cy="1325880"/>
          </a:xfrm>
          <a:prstGeom prst="roundRect">
            <a:avLst>
              <a:gd name="adj" fmla="val 275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056555" y="1664208"/>
            <a:ext cx="384048" cy="384048"/>
          </a:xfrm>
          <a:prstGeom prst="roundRect">
            <a:avLst>
              <a:gd name="adj" fmla="val 7142"/>
            </a:avLst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056555" y="1664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6555" y="2157984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B2020"/>
                </a:solidFill>
                <a:latin typeface="Calibri"/>
              </a:rPr>
              <a:t>Eventos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6555" y="2487168"/>
            <a:ext cx="11926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8A6D3B"/>
                </a:solidFill>
                <a:latin typeface="Calibri"/>
              </a:rPr>
              <a:t>Diseñada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68650" y="1508760"/>
            <a:ext cx="1485246" cy="1325880"/>
          </a:xfrm>
          <a:prstGeom prst="roundRect">
            <a:avLst>
              <a:gd name="adj" fmla="val 275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614954" y="1664208"/>
            <a:ext cx="384048" cy="384048"/>
          </a:xfrm>
          <a:prstGeom prst="roundRect">
            <a:avLst>
              <a:gd name="adj" fmla="val 7142"/>
            </a:avLst>
          </a:prstGeom>
          <a:solidFill>
            <a:srgbClr val="6E5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614954" y="1664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4954" y="2157984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B2020"/>
                </a:solidFill>
                <a:latin typeface="Calibri"/>
              </a:rPr>
              <a:t>Calidad y demo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4954" y="2487168"/>
            <a:ext cx="11926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6E5B5B"/>
                </a:solidFill>
                <a:latin typeface="Calibri"/>
              </a:rPr>
              <a:t>Pendiente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27049" y="1508760"/>
            <a:ext cx="1485246" cy="1325880"/>
          </a:xfrm>
          <a:prstGeom prst="roundRect">
            <a:avLst>
              <a:gd name="adj" fmla="val 275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10173353" y="1664208"/>
            <a:ext cx="384048" cy="384048"/>
          </a:xfrm>
          <a:prstGeom prst="roundRect">
            <a:avLst>
              <a:gd name="adj" fmla="val 7142"/>
            </a:avLst>
          </a:prstGeom>
          <a:solidFill>
            <a:srgbClr val="6E5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173353" y="1664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73353" y="2157984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B2020"/>
                </a:solidFill>
                <a:latin typeface="Calibri"/>
              </a:rPr>
              <a:t>Pasarela real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73353" y="2487168"/>
            <a:ext cx="11926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6E5B5B"/>
                </a:solidFill>
                <a:latin typeface="Calibri"/>
              </a:rPr>
              <a:t>Pendiente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15468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1" i="0">
                <a:solidFill>
                  <a:srgbClr val="6D2E46"/>
                </a:solidFill>
                <a:latin typeface="Cambria"/>
              </a:rPr>
              <a:t>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886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E5B5B"/>
                </a:solidFill>
                <a:latin typeface="Calibri"/>
              </a:rPr>
              <a:t>tablas en PostgreSQL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315468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1" i="0">
                <a:solidFill>
                  <a:srgbClr val="6D2E46"/>
                </a:solidFill>
                <a:latin typeface="Cambria"/>
              </a:rP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3886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E5B5B"/>
                </a:solidFill>
                <a:latin typeface="Calibri"/>
              </a:rPr>
              <a:t>módulos del backend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315468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1" i="0">
                <a:solidFill>
                  <a:srgbClr val="6D2E46"/>
                </a:solidFill>
                <a:latin typeface="Cambria"/>
              </a:rPr>
              <a:t>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3886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E5B5B"/>
                </a:solidFill>
                <a:latin typeface="Calibri"/>
              </a:rPr>
              <a:t>pruebas unitarias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315468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1" i="0">
                <a:solidFill>
                  <a:srgbClr val="6D2E46"/>
                </a:solidFill>
                <a:latin typeface="Cambria"/>
              </a:rPr>
              <a:t>64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3886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E5B5B"/>
                </a:solidFill>
                <a:latin typeface="Calibri"/>
              </a:rPr>
              <a:t>controles de punta a punta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4526280"/>
            <a:ext cx="10908792" cy="1600200"/>
          </a:xfrm>
          <a:prstGeom prst="roundRect">
            <a:avLst>
              <a:gd name="adj" fmla="val 2285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14400" y="470916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50">
                <a:solidFill>
                  <a:srgbClr val="D9AFAF"/>
                </a:solidFill>
                <a:latin typeface="Calibri"/>
              </a:rPr>
              <a:t>EL CASO QUE GUÍA TODO EL AVANCE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010912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ECE2D0"/>
                </a:solidFill>
                <a:latin typeface="Calibri"/>
              </a:rPr>
              <a:t>Un cliente personaliza 12 polos con su logo bordado en el pecho (4 S, 4 M, 4 L), crea el pedido, paga, y el administrador lo avanza de PAGADO a ENTREGADO. Total verificado: S/ 591.60 + S/ 10.00 de envío.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PATRONES VISTOS EN CLASE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Cuatro patrones, un mismo sistema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349240" cy="2103120"/>
          </a:xfrm>
          <a:prstGeom prst="roundRect">
            <a:avLst>
              <a:gd name="adj" fmla="val 1739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14400" y="1874519"/>
            <a:ext cx="2651760" cy="329184"/>
          </a:xfrm>
          <a:prstGeom prst="roundRect">
            <a:avLst>
              <a:gd name="adj" fmla="val 8333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 · CAPAS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6D2E46"/>
                </a:solidFill>
                <a:latin typeface="Cambria"/>
              </a:rPr>
              <a:t>Organiza el servidor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62072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Presentación → Negocio → Datos. Cada módulo tiene controller, service y repository.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349240" cy="2103120"/>
          </a:xfrm>
          <a:prstGeom prst="roundRect">
            <a:avLst>
              <a:gd name="adj" fmla="val 1739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46520" y="1874519"/>
            <a:ext cx="2651760" cy="329184"/>
          </a:xfrm>
          <a:prstGeom prst="roundRect">
            <a:avLst>
              <a:gd name="adj" fmla="val 8333"/>
            </a:avLst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 · CLIENTE-SERVIDOR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774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3C6E8F"/>
                </a:solidFill>
                <a:latin typeface="Cambria"/>
              </a:rPr>
              <a:t>Reparte qué corre dónde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862072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React en el navegador, Spring Boot en el servidor y PostgreSQL detrás.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5349240" cy="2103120"/>
          </a:xfrm>
          <a:prstGeom prst="roundRect">
            <a:avLst>
              <a:gd name="adj" fmla="val 1739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14400" y="4206240"/>
            <a:ext cx="2651760" cy="329184"/>
          </a:xfrm>
          <a:prstGeom prst="roundRect">
            <a:avLst>
              <a:gd name="adj" fmla="val 8333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 · MVC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09159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4E7A5A"/>
                </a:solidFill>
                <a:latin typeface="Cambria"/>
              </a:rPr>
              <a:t>Separa datos, pantalla y coordinación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Modelo: records y servicios. Vista: React. Controlador: @RestController.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931920"/>
            <a:ext cx="5349240" cy="2103120"/>
          </a:xfrm>
          <a:prstGeom prst="roundRect">
            <a:avLst>
              <a:gd name="adj" fmla="val 1739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46520" y="4206240"/>
            <a:ext cx="2651760" cy="329184"/>
          </a:xfrm>
          <a:prstGeom prst="roundRect">
            <a:avLst>
              <a:gd name="adj" fmla="val 8333"/>
            </a:avLst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46520" y="4206240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 · DIRIGIDO POR EVENTOS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709159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8A6D3B"/>
                </a:solidFill>
                <a:latin typeface="Cambria"/>
              </a:rPr>
              <a:t>Reacciona a hechos del negocio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193792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OrderStatusChanged publicado en el bus de Spring. Diseñado para la fase 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6E5B5B"/>
                </a:solidFill>
                <a:latin typeface="Calibri"/>
              </a:rPr>
              <a:t>No compiten: describen el sistema desde niveles distintos y se aplican a la vez.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2 · ARQUITECTURA EN CAPAS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El mozo no entra a la despensa</a:t>
            </a:r>
          </a:p>
        </p:txBody>
      </p:sp>
      <p:pic>
        <p:nvPicPr>
          <p:cNvPr id="4" name="Picture 3" descr="A2_01_capas_restaur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180" y="1371600"/>
            <a:ext cx="9059333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6E5B5B"/>
                </a:solidFill>
                <a:latin typeface="Calibri"/>
              </a:rPr>
              <a:t>En el código: ningún controller recibe JdbcTemplate ni escribe SQL; todo el SQL vive en los @Repository.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2 · ARQUITECTURA EN CAPAS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Crear un pedido: tres capas, tres responsabilidades</a:t>
            </a:r>
          </a:p>
        </p:txBody>
      </p:sp>
      <p:pic>
        <p:nvPicPr>
          <p:cNvPr id="4" name="Picture 3" descr="A2_02_capas_ped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583680" cy="48719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6002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864"/>
              </a:spcAft>
            </a:pPr>
            <a:r>
              <a:rPr sz="1200">
                <a:solidFill>
                  <a:srgbClr val="A26769"/>
                </a:solidFill>
                <a:latin typeface="Calibri"/>
              </a:rPr>
              <a:t>▪  </a:t>
            </a:r>
            <a:r>
              <a:rPr sz="1200" b="1">
                <a:solidFill>
                  <a:srgbClr val="2B2020"/>
                </a:solidFill>
                <a:latin typeface="Calibri"/>
              </a:rPr>
              <a:t>Presentación. </a:t>
            </a:r>
            <a:r>
              <a:rPr sz="1200">
                <a:solidFill>
                  <a:srgbClr val="2B2020"/>
                </a:solidFill>
                <a:latin typeface="Calibri"/>
              </a:rPr>
              <a:t>El DTO valida el formato con @Valid; si falla, 400 sin tocar la base.</a:t>
            </a:r>
          </a:p>
          <a:p>
            <a:pPr>
              <a:lnSpc>
                <a:spcPct val="130000"/>
              </a:lnSpc>
              <a:spcAft>
                <a:spcPts val="864"/>
              </a:spcAft>
            </a:pPr>
            <a:r>
              <a:rPr sz="1200">
                <a:solidFill>
                  <a:srgbClr val="A26769"/>
                </a:solidFill>
                <a:latin typeface="Calibri"/>
              </a:rPr>
              <a:t>▪  </a:t>
            </a:r>
            <a:r>
              <a:rPr sz="1200" b="1">
                <a:solidFill>
                  <a:srgbClr val="2B2020"/>
                </a:solidFill>
                <a:latin typeface="Calibri"/>
              </a:rPr>
              <a:t>Negocio. </a:t>
            </a:r>
            <a:r>
              <a:rPr sz="1200">
                <a:solidFill>
                  <a:srgbClr val="2B2020"/>
                </a:solidFill>
                <a:latin typeface="Calibri"/>
              </a:rPr>
              <a:t>Una transacción: producto activo, zona válida para la técnica, diseño propio, escala de mayoreo y precios recalculados.</a:t>
            </a:r>
          </a:p>
          <a:p>
            <a:pPr>
              <a:lnSpc>
                <a:spcPct val="130000"/>
              </a:lnSpc>
              <a:spcAft>
                <a:spcPts val="864"/>
              </a:spcAft>
            </a:pPr>
            <a:r>
              <a:rPr sz="1200">
                <a:solidFill>
                  <a:srgbClr val="A26769"/>
                </a:solidFill>
                <a:latin typeface="Calibri"/>
              </a:rPr>
              <a:t>▪  </a:t>
            </a:r>
            <a:r>
              <a:rPr sz="1200" b="1">
                <a:solidFill>
                  <a:srgbClr val="2B2020"/>
                </a:solidFill>
                <a:latin typeface="Calibri"/>
              </a:rPr>
              <a:t>Datos. </a:t>
            </a:r>
            <a:r>
              <a:rPr sz="1200">
                <a:solidFill>
                  <a:srgbClr val="2B2020"/>
                </a:solidFill>
                <a:latin typeface="Calibri"/>
              </a:rPr>
              <a:t>Descuento condicional de stock; si no alcanza, rollback completo y 409.</a:t>
            </a:r>
          </a:p>
          <a:p>
            <a:pPr>
              <a:lnSpc>
                <a:spcPct val="130000"/>
              </a:lnSpc>
              <a:spcAft>
                <a:spcPts val="864"/>
              </a:spcAft>
            </a:pPr>
            <a:r>
              <a:rPr sz="1200">
                <a:solidFill>
                  <a:srgbClr val="A26769"/>
                </a:solidFill>
                <a:latin typeface="Calibri"/>
              </a:rPr>
              <a:t>▪  </a:t>
            </a:r>
            <a:r>
              <a:rPr sz="1200" b="1">
                <a:solidFill>
                  <a:srgbClr val="2B2020"/>
                </a:solidFill>
                <a:latin typeface="Calibri"/>
              </a:rPr>
              <a:t>Modelo compartido. </a:t>
            </a:r>
            <a:r>
              <a:rPr sz="1200">
                <a:solidFill>
                  <a:srgbClr val="2B2020"/>
                </a:solidFill>
                <a:latin typeface="Calibri"/>
              </a:rPr>
              <a:t>PricedLine, NewOrder y OrderStatus los usan las tres capas.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2 · ARQUITECTURA EN CAPAS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Cada capa responde con su propio código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578608" cy="3840480"/>
          </a:xfrm>
          <a:prstGeom prst="roundRect">
            <a:avLst>
              <a:gd name="adj" fmla="val 141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400" b="1" i="0">
                <a:solidFill>
                  <a:srgbClr val="3C6E8F"/>
                </a:solidFill>
                <a:latin typeface="Cambria"/>
              </a:rPr>
              <a:t>400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97480"/>
            <a:ext cx="2011680" cy="292608"/>
          </a:xfrm>
          <a:prstGeom prst="roundRect">
            <a:avLst>
              <a:gd name="adj" fmla="val 9375"/>
            </a:avLst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Presentación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2B2020"/>
                </a:solidFill>
                <a:latin typeface="Cambria"/>
              </a:rPr>
              <a:t>Formato inválido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1">
                <a:solidFill>
                  <a:srgbClr val="6E5B5B"/>
                </a:solidFill>
                <a:latin typeface="Calibri"/>
              </a:rPr>
              <a:t>Cotización sin líneas · archivo que no es imagen · diseño de más de 5 MB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578608" cy="3840480"/>
          </a:xfrm>
          <a:prstGeom prst="roundRect">
            <a:avLst>
              <a:gd name="adj" fmla="val 141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75887" y="17830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400" b="1" i="0">
                <a:solidFill>
                  <a:srgbClr val="6E5B5B"/>
                </a:solidFill>
                <a:latin typeface="Cambria"/>
              </a:rPr>
              <a:t>404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5887" y="2697480"/>
            <a:ext cx="2011680" cy="292608"/>
          </a:xfrm>
          <a:prstGeom prst="roundRect">
            <a:avLst>
              <a:gd name="adj" fmla="val 9375"/>
            </a:avLst>
          </a:prstGeom>
          <a:solidFill>
            <a:srgbClr val="6E5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75887" y="269748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Negocio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32004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2B2020"/>
                </a:solidFill>
                <a:latin typeface="Cambria"/>
              </a:rPr>
              <a:t>No existe para 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365760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1">
                <a:solidFill>
                  <a:srgbClr val="6E5B5B"/>
                </a:solidFill>
                <a:latin typeface="Calibri"/>
              </a:rPr>
              <a:t>Un cliente pide el detalle de un pedido ajeno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600200"/>
            <a:ext cx="2578608" cy="3840480"/>
          </a:xfrm>
          <a:prstGeom prst="roundRect">
            <a:avLst>
              <a:gd name="adj" fmla="val 141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37376" y="17830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400" b="1" i="0">
                <a:solidFill>
                  <a:srgbClr val="A26769"/>
                </a:solidFill>
                <a:latin typeface="Cambria"/>
              </a:rPr>
              <a:t>409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7376" y="2697480"/>
            <a:ext cx="2011680" cy="292608"/>
          </a:xfrm>
          <a:prstGeom prst="roundRect">
            <a:avLst>
              <a:gd name="adj" fmla="val 9375"/>
            </a:avLst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37376" y="269748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Negocio ·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32004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2B2020"/>
                </a:solidFill>
                <a:latin typeface="Cambria"/>
              </a:rPr>
              <a:t>Conflicto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65760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1">
                <a:solidFill>
                  <a:srgbClr val="6E5B5B"/>
                </a:solidFill>
                <a:latin typeface="Calibri"/>
              </a:rPr>
              <a:t>«Stock insuficiente para POLO-…-S (S, Blanco): pediste 21»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24544" y="1600200"/>
            <a:ext cx="2578608" cy="3840480"/>
          </a:xfrm>
          <a:prstGeom prst="roundRect">
            <a:avLst>
              <a:gd name="adj" fmla="val 141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98864" y="17830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400" b="1" i="0">
                <a:solidFill>
                  <a:srgbClr val="6D2E46"/>
                </a:solidFill>
                <a:latin typeface="Cambria"/>
              </a:rPr>
              <a:t>422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98864" y="2697480"/>
            <a:ext cx="2011680" cy="292608"/>
          </a:xfrm>
          <a:prstGeom prst="roundRect">
            <a:avLst>
              <a:gd name="adj" fmla="val 9375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98864" y="269748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Negocio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32004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2B2020"/>
                </a:solidFill>
                <a:latin typeface="Cambria"/>
              </a:rPr>
              <a:t>Regla violada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8864" y="365760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1">
                <a:solidFill>
                  <a:srgbClr val="6E5B5B"/>
                </a:solidFill>
                <a:latin typeface="Calibri"/>
              </a:rPr>
              <a:t>«La zona ESPALDA no admite bordado…» · pasar de PAGADO a ENTREGADO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623560"/>
            <a:ext cx="10908792" cy="566928"/>
          </a:xfrm>
          <a:prstGeom prst="roundRect">
            <a:avLst>
              <a:gd name="adj" fmla="val 6451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4400" y="5623560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ECE2D0"/>
                </a:solidFill>
                <a:latin typeface="Calibri"/>
              </a:rPr>
              <a:t>Un único @RestControllerAdvice devuelve siempre { status, message, errors }: mensajes reales obtenidos al verificar la API.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3 · CLIENTE-SERVIDOR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El servidor es la única autoridad</a:t>
            </a:r>
          </a:p>
        </p:txBody>
      </p:sp>
      <p:pic>
        <p:nvPicPr>
          <p:cNvPr id="4" name="Picture 3" descr="A2_03_cliente_servi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954" y="1371600"/>
            <a:ext cx="8735785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6E5B5B"/>
                </a:solidFill>
                <a:latin typeface="Calibri"/>
              </a:rPr>
              <a:t>El servidor recalcula precios y stock: nunca acepta importes enviados por el navegador.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4 · MODELO-VISTA-CONTROLADOR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Los tres roles de clase, con la vista en el navegador</a:t>
            </a:r>
          </a:p>
        </p:txBody>
      </p:sp>
      <p:pic>
        <p:nvPicPr>
          <p:cNvPr id="4" name="Picture 3" descr="A2_04_m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571" y="1371600"/>
            <a:ext cx="8434551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6E5B5B"/>
                </a:solidFill>
                <a:latin typeface="Calibri"/>
              </a:rPr>
              <a:t>JavaBeans → Modelo · Servlets → Controlador · JSP → Vista: el controlador ahora responde JSON y React lo dibuja.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5 · DIRIGIDA POR EVENTOS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Quien publica no conoce a quien escucha</a:t>
            </a:r>
          </a:p>
        </p:txBody>
      </p:sp>
      <p:pic>
        <p:nvPicPr>
          <p:cNvPr id="4" name="Picture 3" descr="A2_05_ev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954" y="1371600"/>
            <a:ext cx="8735785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8A6D3B"/>
                </a:solidFill>
                <a:latin typeface="Calibri"/>
              </a:rPr>
              <a:t>Aún no implementado: se agrega en la fase 4 con el bus de Spring, sin broker externo.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SÍNTESIS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Cómo conviven los cuatro patrones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20">
                <a:solidFill>
                  <a:srgbClr val="6E5B5B"/>
                </a:solidFill>
                <a:latin typeface="Calibri"/>
              </a:rPr>
              <a:t>PATRÓN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5087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20">
                <a:solidFill>
                  <a:srgbClr val="6E5B5B"/>
                </a:solidFill>
                <a:latin typeface="Calibri"/>
              </a:rPr>
              <a:t>NIVEL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5087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20">
                <a:solidFill>
                  <a:srgbClr val="6E5B5B"/>
                </a:solidFill>
                <a:latin typeface="Calibri"/>
              </a:rPr>
              <a:t>BENEFICIO PARA CORAL SHOP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0908792" cy="868680"/>
          </a:xfrm>
          <a:prstGeom prst="roundRect">
            <a:avLst>
              <a:gd name="adj" fmla="val 4210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73152" cy="868680"/>
          </a:xfrm>
          <a:prstGeom prst="rect">
            <a:avLst/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3C6E8F"/>
                </a:solidFill>
                <a:latin typeface="Cambria"/>
              </a:rPr>
              <a:t>Cliente-servidor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874519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Despliegue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19"/>
            <a:ext cx="47548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Reglas y datos protegidos en un solo lugar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26079"/>
            <a:ext cx="10908792" cy="868680"/>
          </a:xfrm>
          <a:prstGeom prst="roundRect">
            <a:avLst>
              <a:gd name="adj" fmla="val 4210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40080" y="2926079"/>
            <a:ext cx="73152" cy="868680"/>
          </a:xfrm>
          <a:prstGeom prst="rect">
            <a:avLst/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2926079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4E7A5A"/>
                </a:solidFill>
                <a:latin typeface="Cambria"/>
              </a:rPr>
              <a:t>MVC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26079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Interacción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26079"/>
            <a:ext cx="47548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La misma API sirve a la tienda, al panel y a las pruebas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77639"/>
            <a:ext cx="10908792" cy="868680"/>
          </a:xfrm>
          <a:prstGeom prst="roundRect">
            <a:avLst>
              <a:gd name="adj" fmla="val 4210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40080" y="3977639"/>
            <a:ext cx="73152" cy="86868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3977639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6D2E46"/>
                </a:solidFill>
                <a:latin typeface="Cambria"/>
              </a:rPr>
              <a:t>Capas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977639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Organización del servidor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977639"/>
            <a:ext cx="47548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Cambios acotados y errores 400, 422 y 409 bien separados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29200"/>
            <a:ext cx="10908792" cy="868680"/>
          </a:xfrm>
          <a:prstGeom prst="roundRect">
            <a:avLst>
              <a:gd name="adj" fmla="val 4210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40080" y="5029200"/>
            <a:ext cx="73152" cy="868680"/>
          </a:xfrm>
          <a:prstGeom prst="rect">
            <a:avLst/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68680" y="5029200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8A6D3B"/>
                </a:solidFill>
                <a:latin typeface="Cambria"/>
              </a:rPr>
              <a:t>Eventos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029200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Reacciones del negocio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029200"/>
            <a:ext cx="47548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Notificar y auditar sin tocar el flujo de pedidos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6 · IMPLEMENTACIÓN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Paquetes por funcionalidad y por capa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760720" cy="4709160"/>
          </a:xfrm>
          <a:prstGeom prst="roundRect">
            <a:avLst>
              <a:gd name="adj" fmla="val 776"/>
            </a:avLst>
          </a:prstGeom>
          <a:solidFill>
            <a:srgbClr val="3D1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53035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ECE2D0"/>
                </a:solidFill>
                <a:latin typeface="Consolas"/>
              </a:rPr>
              <a:t>com.coralshop/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ECE2D0"/>
                </a:solidFill>
                <a:latin typeface="Consolas"/>
              </a:rPr>
              <a:t>├─ auth/          config · controller · dto · service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ECE2D0"/>
                </a:solidFill>
                <a:latin typeface="Consolas"/>
              </a:rPr>
              <a:t>├─ catalog/       controller · dto · model · repository · service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ECE2D0"/>
                </a:solidFill>
                <a:latin typeface="Consolas"/>
              </a:rPr>
              <a:t>├─ customization/ controller · dto · model · repository · service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ECE2D0"/>
                </a:solidFill>
                <a:latin typeface="Consolas"/>
              </a:rPr>
              <a:t>├─ design/        controller · dto · model · repository · service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ECE2D0"/>
                </a:solidFill>
                <a:latin typeface="Consolas"/>
              </a:rPr>
              <a:t>├─ pricing/       controller · dto · model · service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ECE2D0"/>
                </a:solidFill>
                <a:latin typeface="Consolas"/>
              </a:rPr>
              <a:t>├─ order/         controller · dto · model · repository · service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ECE2D0"/>
                </a:solidFill>
                <a:latin typeface="Consolas"/>
              </a:rPr>
              <a:t>├─ payment/       controller · dto · model · repository · service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ECE2D0"/>
                </a:solidFill>
                <a:latin typeface="Consolas"/>
              </a:rPr>
              <a:t>├─ address/ · shipping/ · user/ · stats/ · health/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ECE2D0"/>
                </a:solidFill>
                <a:latin typeface="Consolas"/>
              </a:rPr>
              <a:t>└─ common/        dto · exception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ECE2D0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ECE2D0"/>
                </a:solidFill>
                <a:latin typeface="Consolas"/>
              </a:rPr>
              <a:t>db/migration/     V1 … V5 (Flyway)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463040"/>
            <a:ext cx="4919472" cy="1463040"/>
          </a:xfrm>
          <a:prstGeom prst="roundRect">
            <a:avLst>
              <a:gd name="adj" fmla="val 2500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629400" y="1463040"/>
            <a:ext cx="64008" cy="1463040"/>
          </a:xfrm>
          <a:prstGeom prst="rect">
            <a:avLst/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67144" y="1700784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3C6E8F"/>
                </a:solidFill>
                <a:latin typeface="Cambria"/>
              </a:rPr>
              <a:t>Cliente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67144" y="2103120"/>
            <a:ext cx="4443983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00" b="0" i="0">
                <a:solidFill>
                  <a:srgbClr val="2B2020"/>
                </a:solidFill>
                <a:latin typeface="Calibri"/>
              </a:rPr>
              <a:t>Catálogo filtrado, personalizador, diseños, cotización, direcciones, pedido, pago y «Mis pedidos».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3081528"/>
            <a:ext cx="4919472" cy="1463040"/>
          </a:xfrm>
          <a:prstGeom prst="roundRect">
            <a:avLst>
              <a:gd name="adj" fmla="val 2500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629400" y="3081528"/>
            <a:ext cx="64008" cy="146304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67144" y="3319272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6D2E46"/>
                </a:solidFill>
                <a:latin typeface="Cambria"/>
              </a:rPr>
              <a:t>Administrador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7144" y="3721608"/>
            <a:ext cx="4443983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00" b="0" i="0">
                <a:solidFill>
                  <a:srgbClr val="2B2020"/>
                </a:solidFill>
                <a:latin typeface="Calibri"/>
              </a:rPr>
              <a:t>Bandeja de pedidos con máquina de estados, productos, categorías, usuarios y métricas.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4700016"/>
            <a:ext cx="4919472" cy="1463040"/>
          </a:xfrm>
          <a:prstGeom prst="roundRect">
            <a:avLst>
              <a:gd name="adj" fmla="val 2500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629400" y="4700016"/>
            <a:ext cx="64008" cy="1463040"/>
          </a:xfrm>
          <a:prstGeom prst="rect">
            <a:avLst/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67144" y="4937759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4E7A5A"/>
                </a:solidFill>
                <a:latin typeface="Cambria"/>
              </a:rPr>
              <a:t>Seguridad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7144" y="5340096"/>
            <a:ext cx="4443983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00" b="0" i="0">
                <a:solidFill>
                  <a:srgbClr val="2B2020"/>
                </a:solidFill>
                <a:latin typeface="Calibri"/>
              </a:rPr>
              <a:t>Sesión, CSRF, roles (un admin también compra) y SQL siempre con parámetros.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6 · IMPLEMENTACIÓN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Reglas del negocio, verificadas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8"/>
              </a:spcAft>
            </a:pPr>
            <a:r>
              <a:rPr sz="1250">
                <a:solidFill>
                  <a:srgbClr val="A26769"/>
                </a:solidFill>
                <a:latin typeface="Calibri"/>
              </a:rPr>
              <a:t>▪  </a:t>
            </a:r>
            <a:r>
              <a:rPr sz="1250" b="1">
                <a:solidFill>
                  <a:srgbClr val="2B2020"/>
                </a:solidFill>
                <a:latin typeface="Calibri"/>
              </a:rPr>
              <a:t>Precio en el servidor: </a:t>
            </a:r>
            <a:r>
              <a:rPr sz="1250">
                <a:solidFill>
                  <a:srgbClr val="2B2020"/>
                </a:solidFill>
                <a:latin typeface="Calibri"/>
              </a:rPr>
              <a:t>base + técnica + zonas, con el descuento de la escala.</a:t>
            </a:r>
          </a:p>
          <a:p>
            <a:pPr>
              <a:lnSpc>
                <a:spcPct val="130000"/>
              </a:lnSpc>
              <a:spcAft>
                <a:spcPts val="1008"/>
              </a:spcAft>
            </a:pPr>
            <a:r>
              <a:rPr sz="1250">
                <a:solidFill>
                  <a:srgbClr val="A26769"/>
                </a:solidFill>
                <a:latin typeface="Calibri"/>
              </a:rPr>
              <a:t>▪  </a:t>
            </a:r>
            <a:r>
              <a:rPr sz="1250" b="1">
                <a:solidFill>
                  <a:srgbClr val="2B2020"/>
                </a:solidFill>
                <a:latin typeface="Calibri"/>
              </a:rPr>
              <a:t>Mayoreo: </a:t>
            </a:r>
            <a:r>
              <a:rPr sz="1250">
                <a:solidFill>
                  <a:srgbClr val="2B2020"/>
                </a:solidFill>
                <a:latin typeface="Calibri"/>
              </a:rPr>
              <a:t>1–2 sin descuento · 3–5 al 5 % · 6–11 al 10 % · 12+ al 15 %.</a:t>
            </a:r>
          </a:p>
          <a:p>
            <a:pPr>
              <a:lnSpc>
                <a:spcPct val="130000"/>
              </a:lnSpc>
              <a:spcAft>
                <a:spcPts val="1008"/>
              </a:spcAft>
            </a:pPr>
            <a:r>
              <a:rPr sz="1250">
                <a:solidFill>
                  <a:srgbClr val="A26769"/>
                </a:solidFill>
                <a:latin typeface="Calibri"/>
              </a:rPr>
              <a:t>▪  </a:t>
            </a:r>
            <a:r>
              <a:rPr sz="1250" b="1">
                <a:solidFill>
                  <a:srgbClr val="2B2020"/>
                </a:solidFill>
                <a:latin typeface="Calibri"/>
              </a:rPr>
              <a:t>Zonas por tipo: </a:t>
            </a:r>
            <a:r>
              <a:rPr sz="1250">
                <a:solidFill>
                  <a:srgbClr val="2B2020"/>
                </a:solidFill>
                <a:latin typeface="Calibri"/>
              </a:rPr>
              <a:t>el bordado admite menos zonas y tamaños que el estampado.</a:t>
            </a:r>
          </a:p>
          <a:p>
            <a:pPr>
              <a:lnSpc>
                <a:spcPct val="130000"/>
              </a:lnSpc>
              <a:spcAft>
                <a:spcPts val="1008"/>
              </a:spcAft>
            </a:pPr>
            <a:r>
              <a:rPr sz="1250">
                <a:solidFill>
                  <a:srgbClr val="A26769"/>
                </a:solidFill>
                <a:latin typeface="Calibri"/>
              </a:rPr>
              <a:t>▪  </a:t>
            </a:r>
            <a:r>
              <a:rPr sz="1250" b="1">
                <a:solidFill>
                  <a:srgbClr val="2B2020"/>
                </a:solidFill>
                <a:latin typeface="Calibri"/>
              </a:rPr>
              <a:t>Sin sobreventa: </a:t>
            </a:r>
            <a:r>
              <a:rPr sz="1250">
                <a:solidFill>
                  <a:srgbClr val="2B2020"/>
                </a:solidFill>
                <a:latin typeface="Calibri"/>
              </a:rPr>
              <a:t>UPDATE … WHERE stock &gt;= ? dentro de la transacción.</a:t>
            </a:r>
          </a:p>
          <a:p>
            <a:pPr>
              <a:lnSpc>
                <a:spcPct val="130000"/>
              </a:lnSpc>
              <a:spcAft>
                <a:spcPts val="1008"/>
              </a:spcAft>
            </a:pPr>
            <a:r>
              <a:rPr sz="1250">
                <a:solidFill>
                  <a:srgbClr val="A26769"/>
                </a:solidFill>
                <a:latin typeface="Calibri"/>
              </a:rPr>
              <a:t>▪  </a:t>
            </a:r>
            <a:r>
              <a:rPr sz="1250" b="1">
                <a:solidFill>
                  <a:srgbClr val="2B2020"/>
                </a:solidFill>
                <a:latin typeface="Calibri"/>
              </a:rPr>
              <a:t>Estados: </a:t>
            </a:r>
            <a:r>
              <a:rPr sz="1250">
                <a:solidFill>
                  <a:srgbClr val="2B2020"/>
                </a:solidFill>
                <a:latin typeface="Calibri"/>
              </a:rPr>
              <a:t>PAGADO solo con pago aprobado; cancelar repone el stock.</a:t>
            </a:r>
          </a:p>
          <a:p>
            <a:pPr>
              <a:lnSpc>
                <a:spcPct val="130000"/>
              </a:lnSpc>
              <a:spcAft>
                <a:spcPts val="1008"/>
              </a:spcAft>
            </a:pPr>
            <a:r>
              <a:rPr sz="1250">
                <a:solidFill>
                  <a:srgbClr val="A26769"/>
                </a:solidFill>
                <a:latin typeface="Calibri"/>
              </a:rPr>
              <a:t>▪  </a:t>
            </a:r>
            <a:r>
              <a:rPr sz="1250" b="1">
                <a:solidFill>
                  <a:srgbClr val="2B2020"/>
                </a:solidFill>
                <a:latin typeface="Calibri"/>
              </a:rPr>
              <a:t>Pago seguro: </a:t>
            </a:r>
            <a:r>
              <a:rPr sz="1250">
                <a:solidFill>
                  <a:srgbClr val="2B2020"/>
                </a:solidFill>
                <a:latin typeface="Calibri"/>
              </a:rPr>
              <a:t>pedido bloqueado durante el cobro; la tarjeta no se guarda.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554480"/>
            <a:ext cx="4599432" cy="1371600"/>
          </a:xfrm>
          <a:prstGeom prst="roundRect">
            <a:avLst>
              <a:gd name="adj" fmla="val 2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223760" y="1691639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 i="0">
                <a:solidFill>
                  <a:srgbClr val="4E7A5A"/>
                </a:solidFill>
                <a:latin typeface="Cambria"/>
              </a:rPr>
              <a:t>40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7830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2B2020"/>
                </a:solidFill>
                <a:latin typeface="Calibri"/>
              </a:rPr>
              <a:t>pruebas unitarias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35915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QuantityPolicy, importes, estados, imagen y pasarela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108960"/>
            <a:ext cx="4599432" cy="1371600"/>
          </a:xfrm>
          <a:prstGeom prst="roundRect">
            <a:avLst>
              <a:gd name="adj" fmla="val 2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23760" y="3246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 i="0">
                <a:solidFill>
                  <a:srgbClr val="3C6E8F"/>
                </a:solidFill>
                <a:latin typeface="Cambria"/>
              </a:rPr>
              <a:t>64 / 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33375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2B2020"/>
                </a:solidFill>
                <a:latin typeface="Calibri"/>
              </a:rPr>
              <a:t>controles de punta a punta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91363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flujo completo y cada regla rota contra 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4663440"/>
            <a:ext cx="4599432" cy="1371600"/>
          </a:xfrm>
          <a:prstGeom prst="roundRect">
            <a:avLst>
              <a:gd name="adj" fmla="val 2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223760" y="4800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 i="0">
                <a:solidFill>
                  <a:srgbClr val="6D2E46"/>
                </a:solidFill>
                <a:latin typeface="Cambria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8920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2B2020"/>
                </a:solidFill>
                <a:latin typeface="Calibri"/>
              </a:rPr>
              <a:t>errores 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46811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en el registro del servidor durante la verificación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Del API a la tienda completa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578608" cy="3017520"/>
          </a:xfrm>
          <a:prstGeom prst="roundRect">
            <a:avLst>
              <a:gd name="adj" fmla="val 141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96112" y="1828800"/>
            <a:ext cx="1280160" cy="329184"/>
          </a:xfrm>
          <a:prstGeom prst="roundRect">
            <a:avLst>
              <a:gd name="adj" fmla="val 8333"/>
            </a:avLst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Fase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774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C6E8F"/>
                </a:solidFill>
                <a:latin typeface="Cambria"/>
              </a:rPr>
              <a:t>Frontend de compra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24612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2B2020"/>
                </a:solidFill>
                <a:latin typeface="Calibri"/>
              </a:rPr>
              <a:t>Personalizador con vista previa, carrito por diseño, checkout, pago y «Mis pedidos».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600200"/>
            <a:ext cx="2578608" cy="3017520"/>
          </a:xfrm>
          <a:prstGeom prst="roundRect">
            <a:avLst>
              <a:gd name="adj" fmla="val 141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1280160" cy="329184"/>
          </a:xfrm>
          <a:prstGeom prst="roundRect">
            <a:avLst>
              <a:gd name="adj" fmla="val 8333"/>
            </a:avLst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Fase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774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8A6D3B"/>
                </a:solidFill>
                <a:latin typeface="Cambria"/>
              </a:rPr>
              <a:t>Evento de dominio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4612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2B2020"/>
                </a:solidFill>
                <a:latin typeface="Calibri"/>
              </a:rPr>
              <a:t>OrderStatusChanged con notificación al cliente y auditoría.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600200"/>
            <a:ext cx="2578608" cy="3017520"/>
          </a:xfrm>
          <a:prstGeom prst="roundRect">
            <a:avLst>
              <a:gd name="adj" fmla="val 141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419088" y="1828800"/>
            <a:ext cx="1280160" cy="329184"/>
          </a:xfrm>
          <a:prstGeom prst="roundRect">
            <a:avLst>
              <a:gd name="adj" fmla="val 8333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19088" y="182880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Fase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774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4E7A5A"/>
                </a:solidFill>
                <a:latin typeface="Cambria"/>
              </a:rPr>
              <a:t>Calidad y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24612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2B2020"/>
                </a:solidFill>
                <a:latin typeface="Calibri"/>
              </a:rPr>
              <a:t>Datos ficticios, colección Postman, informe y presentación finales.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4544" y="1600200"/>
            <a:ext cx="2578608" cy="3017520"/>
          </a:xfrm>
          <a:prstGeom prst="roundRect">
            <a:avLst>
              <a:gd name="adj" fmla="val 141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9180576" y="1828800"/>
            <a:ext cx="1280160" cy="329184"/>
          </a:xfrm>
          <a:prstGeom prst="roundRect">
            <a:avLst>
              <a:gd name="adj" fmla="val 8333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0576" y="182880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Despliegue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23774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6D2E46"/>
                </a:solidFill>
                <a:latin typeface="Cambria"/>
              </a:rPr>
              <a:t>Vercel + 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324612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2B2020"/>
                </a:solidFill>
                <a:latin typeface="Calibri"/>
              </a:rPr>
              <a:t>Frontend en Vercel con la variable BACKEND_URL; backend en el servicio que se elija.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280160" y="4206240"/>
            <a:ext cx="4206240" cy="420624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1280160"/>
            <a:ext cx="3474720" cy="3474720"/>
          </a:xfrm>
          <a:prstGeom prst="ellipse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D9AFAF"/>
                </a:solidFill>
                <a:latin typeface="Calibri"/>
              </a:rPr>
              <a:t>PARA CERRAR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98448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800" b="1" i="0">
                <a:solidFill>
                  <a:srgbClr val="ECE2D0"/>
                </a:solidFill>
                <a:latin typeface="Cambria"/>
              </a:rPr>
              <a:t>La arquitectura se ve en el código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514600"/>
            <a:ext cx="4937760" cy="1188720"/>
          </a:xfrm>
          <a:prstGeom prst="roundRect">
            <a:avLst>
              <a:gd name="adj" fmla="val 3076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71600" y="2697480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ECE2D0"/>
                </a:solidFill>
                <a:latin typeface="Cambria"/>
              </a:rPr>
              <a:t>Capas comprobables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1810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D8C6C0"/>
                </a:solidFill>
                <a:latin typeface="Calibri"/>
              </a:rPr>
              <a:t>Ningún controller toca la base; cada capa responde con su código.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514600"/>
            <a:ext cx="4937760" cy="1188720"/>
          </a:xfrm>
          <a:prstGeom prst="roundRect">
            <a:avLst>
              <a:gd name="adj" fmla="val 3076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29400" y="2697480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ECE2D0"/>
                </a:solidFill>
                <a:latin typeface="Cambria"/>
              </a:rPr>
              <a:t>Servidor como autoridad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11810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D8C6C0"/>
                </a:solidFill>
                <a:latin typeface="Calibri"/>
              </a:rPr>
              <a:t>Precios y stock se recalculan siempre en el servidor.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931920"/>
            <a:ext cx="4937760" cy="1188720"/>
          </a:xfrm>
          <a:prstGeom prst="roundRect">
            <a:avLst>
              <a:gd name="adj" fmla="val 3076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71600" y="4114800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ECE2D0"/>
                </a:solidFill>
                <a:latin typeface="Cambria"/>
              </a:rPr>
              <a:t>MVC adaptado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3542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D8C6C0"/>
                </a:solidFill>
                <a:latin typeface="Calibri"/>
              </a:rPr>
              <a:t>La vista pasó de JSP a React; el controlador responde JSON.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931920"/>
            <a:ext cx="4937760" cy="1188720"/>
          </a:xfrm>
          <a:prstGeom prst="roundRect">
            <a:avLst>
              <a:gd name="adj" fmla="val 3076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629400" y="4114800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ECE2D0"/>
                </a:solidFill>
                <a:latin typeface="Cambria"/>
              </a:rPr>
              <a:t>Eventos con propósito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53542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D8C6C0"/>
                </a:solidFill>
                <a:latin typeface="Calibri"/>
              </a:rPr>
              <a:t>Se agregan en la fase 4 para notificar y auditar.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064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D9AFAF"/>
                </a:solidFill>
                <a:latin typeface="Cambria"/>
              </a:rPr>
              <a:t>Gracias. 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