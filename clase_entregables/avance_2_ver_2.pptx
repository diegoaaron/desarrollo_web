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Liam Choquehuanca</a:t>
            </a:r>
          </a:p>
          <a:p/>
          <a:p>
            <a:r>
              <a:t>QUÉ DECIR: Saludar y presentar al grupo (Grupo 1) y el proyecto: Coral Shop, una tienda virtual de ropa juvenil</a:t>
            </a:r>
          </a:p>
          <a:p>
            <a:r>
              <a:t>(polos, poleras, gorras y tote bags) donde el propio cliente personaliza el estampado o el bordado.</a:t>
            </a:r>
          </a:p>
          <a:p>
            <a:r>
              <a:t>Este avance muestra la ARQUITECTURA de la solución: cómo aplicamos los cuatro patrones vistos en clase</a:t>
            </a:r>
          </a:p>
          <a:p>
            <a:r>
              <a:t>(capas, cliente-servidor, MVC y eventos) en el código real que ya funciona.</a:t>
            </a:r>
          </a:p>
          <a:p>
            <a:r>
              <a:t>IDEA CLAVE: no es un diseño en papel; todo lo que vamos a mostrar ya está implementado hasta la fase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Liam Choquehuanca</a:t>
            </a:r>
          </a:p>
          <a:p/>
          <a:p>
            <a:r>
              <a:t>QUÉ DECIR: Recorrer rápido los seis bloques. Primero dónde estamos; luego los cuatro patrones, uno por uno,</a:t>
            </a:r>
          </a:p>
          <a:p>
            <a:r>
              <a:t>cada uno explicado con una analogía de nuestro propio taller de estampado (no del restaurante de la clase);</a:t>
            </a:r>
          </a:p>
          <a:p>
            <a:r>
              <a:t>al final la implementación, las pruebas y lo que falta.</a:t>
            </a:r>
          </a:p>
          <a:p>
            <a:r>
              <a:t>TIP: no leer las tarjetas; decir solo el título de cada bloque y pasar. Esta lámina dura ~30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Liam Choquehuanca</a:t>
            </a:r>
          </a:p>
          <a:p/>
          <a:p>
            <a:r>
              <a:t>QUÉ DECIR: El proyecto se organiza en 7 fases. Las fases 0 a 4 están TERMINADAS e integradas en GitHub:</a:t>
            </a:r>
          </a:p>
          <a:p>
            <a:r>
              <a:t>0 ordenar el código, 1 modelo de datos, 2 API de compra, 3 frontend de compra y 4 eventos. La siguiente es la 5</a:t>
            </a:r>
          </a:p>
          <a:p>
            <a:r>
              <a:t>(calidad y demo) y la 6 es la pasarela de pago real.</a:t>
            </a:r>
          </a:p>
          <a:p>
            <a:r>
              <a:t>CIFRAS: 27 tablas en PostgreSQL, 15 módulos en el backend, 44 pruebas unitarias en verde y 64 controles del</a:t>
            </a:r>
          </a:p>
          <a:p>
            <a:r>
              <a:t>recorrido de la API.</a:t>
            </a:r>
          </a:p>
          <a:p>
            <a:r>
              <a:t>EL CASO QUE GUÍA TODO: 12 polos con el logo bordado en el pecho, 4 de talla S, 4 M y 4 L. El cliente compra y</a:t>
            </a:r>
          </a:p>
          <a:p>
            <a:r>
              <a:t>paga, el administrador lo lleva hasta ENTREGADO y la campana le avisa cada cambio. Ese caso ya se probó entero en</a:t>
            </a:r>
          </a:p>
          <a:p>
            <a:r>
              <a:t>el navegador. Lo vamos a usar como ejemplo en todas las láminas.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Diego Damián</a:t>
            </a:r>
          </a:p>
          <a:p/>
          <a:p>
            <a:r>
              <a:t>QUÉ DECIR: Son los cuatro patrones que el profesor dibujó en la pizarra. No compiten entre sí: cada uno mira el</a:t>
            </a:r>
          </a:p>
          <a:p>
            <a:r>
              <a:t>sistema desde un nivel distinto.</a:t>
            </a:r>
          </a:p>
          <a:p>
            <a:r>
              <a:t>- Capas: cómo se ordena el servidor por dentro.</a:t>
            </a:r>
          </a:p>
          <a:p>
            <a:r>
              <a:t>- Cliente-servidor: qué corre en el navegador y qué en el servidor.</a:t>
            </a:r>
          </a:p>
          <a:p>
            <a:r>
              <a:t>- MVC: cómo se separa lo que el usuario ve de los datos y de quien coordina.</a:t>
            </a:r>
          </a:p>
          <a:p>
            <a:r>
              <a:t>- Eventos: cómo el sistema reacciona cuando pasa algo importante (un pedido cambia de estado).</a:t>
            </a:r>
          </a:p>
          <a:p>
            <a:r>
              <a:t>TRANSICIÓN: «Empezamos por capas, con un ejemplo de nuestro propio taller».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Diego Damián</a:t>
            </a:r>
          </a:p>
          <a:p/>
          <a:p>
            <a:r>
              <a:t>QUÉ DECIR: En clase se usó el restaurante; nosotros usamos nuestro taller de estampado y bordado.</a:t>
            </a:r>
          </a:p>
          <a:p>
            <a:r>
              <a:t>- El VENDEDOR atiende al cliente y revisa que el pedido esté completo (tallas, colores, diseño) → es el</a:t>
            </a:r>
          </a:p>
          <a:p>
            <a:r>
              <a:t>  Controller (capa de presentación).</a:t>
            </a:r>
          </a:p>
          <a:p>
            <a:r>
              <a:t>- El JEFE DE TALLER aplica las reglas: qué técnica acepta cada zona del polo, qué descuento por mayoreo toca,</a:t>
            </a:r>
          </a:p>
          <a:p>
            <a:r>
              <a:t>  cuánto cuesta → es el Service (capa de negocio).</a:t>
            </a:r>
          </a:p>
          <a:p>
            <a:r>
              <a:t>- El ALMACENERO saca y guarda los polos por talla y color → es el Repository (capa de datos).</a:t>
            </a:r>
          </a:p>
          <a:p>
            <a:r>
              <a:t>- El ALMACÉN es PostgreSQL.</a:t>
            </a:r>
          </a:p>
          <a:p>
            <a:r>
              <a:t>FRASE PARA RECORDAR: «el vendedor NO entra al almacén». En el código, ningún controller usa JdbcTemplate ni</a:t>
            </a:r>
          </a:p>
          <a:p>
            <a:r>
              <a:t>escribe SQL; todo el SQL está en los @Repository. Si mañana cambiamos de base de datos, solo se tocan los</a:t>
            </a:r>
          </a:p>
          <a:p>
            <a:r>
              <a:t>repositorios.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Diego Damián</a:t>
            </a:r>
          </a:p>
          <a:p/>
          <a:p>
            <a:r>
              <a:t>QUÉ DECIR: Mismo patrón, ahora con el pedido real (POST /api/orders). Seguir los números rojos del diagrama:</a:t>
            </a:r>
          </a:p>
          <a:p>
            <a:r>
              <a:t>1. PRESENTACIÓN: CustomerOrderController y el DTO CreateOrderRequest validan el FORMATO con @Valid. Si falta un</a:t>
            </a:r>
          </a:p>
          <a:p>
            <a:r>
              <a:t>   campo o la cantidad no es válida → error 400, sin tocar la base.</a:t>
            </a:r>
          </a:p>
          <a:p>
            <a:r>
              <a:t>2. NEGOCIO: OrderService abre UNA transacción. Revisa que el pecho acepte bordado, que el logo sea del cliente,</a:t>
            </a:r>
          </a:p>
          <a:p>
            <a:r>
              <a:t>   reconoce que 12 polos alcanzan la escala de docena (15 % de descuento) y recalcula los precios. Regla rota → 422.</a:t>
            </a:r>
          </a:p>
          <a:p>
            <a:r>
              <a:t>3. DATOS: descuenta el stock talla por talla con «UPDATE … WHERE stock &gt;= ?». Si no hay 4 polos talla M, se</a:t>
            </a:r>
          </a:p>
          <a:p>
            <a:r>
              <a:t>   deshace todo (rollback) → 409.</a:t>
            </a:r>
          </a:p>
          <a:p>
            <a:r>
              <a:t>4. Al confirmar, se publica el evento OrderStatusChanged (lo vemos en la lámina 10).</a:t>
            </a:r>
          </a:p>
          <a:p>
            <a:r>
              <a:t>SI PREGUNTAN «¿por qué el precio lo calcula el servidor?»: porque el navegador se puede manipular.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Juan Franco Loayza</a:t>
            </a:r>
          </a:p>
          <a:p/>
          <a:p>
            <a:r>
              <a:t>QUÉ DECIR: Una ventaja de separar en capas es que cada error dice dónde falló:</a:t>
            </a:r>
          </a:p>
          <a:p>
            <a:r>
              <a:t>- 400 (presentación): el formato está mal; por ejemplo, subir un archivo que no es imagen o de más de 5 MB.</a:t>
            </a:r>
          </a:p>
          <a:p>
            <a:r>
              <a:t>- 404 (negocio): pides algo que no es tuyo, como el pedido o el aviso de otro cliente. No decimos «prohibido»</a:t>
            </a:r>
          </a:p>
          <a:p>
            <a:r>
              <a:t>  para no revelar que existe.</a:t>
            </a:r>
          </a:p>
          <a:p>
            <a:r>
              <a:t>- 409 (negocio/datos): conflicto con el stock: «Stock insuficiente… pediste 21».</a:t>
            </a:r>
          </a:p>
          <a:p>
            <a:r>
              <a:t>- 422 (negocio): una regla del taller: «La zona ESPALDA no admite bordado» o saltar de PAGADO a ENTREGADO.</a:t>
            </a:r>
          </a:p>
          <a:p>
            <a:r>
              <a:t>Todo pasa por un solo @RestControllerAdvice que responde siempre con la misma forma { status, message, errors },</a:t>
            </a:r>
          </a:p>
          <a:p>
            <a:r>
              <a:t>y el frontend muestra ese mensaje junto al campo que falló. Los mensajes son reales, sacados de las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Juan Franco Loayza</a:t>
            </a:r>
          </a:p>
          <a:p/>
          <a:p>
            <a:r>
              <a:t>QUÉ DECIR: ANALOGÍA: los pedidos llegan por varios canales, pero todos van a un único taller central que tiene</a:t>
            </a:r>
          </a:p>
          <a:p>
            <a:r>
              <a:t>la lista de precios y el stock oficiales. Ningún canal fija sus propios precios.</a:t>
            </a:r>
          </a:p>
          <a:p>
            <a:r>
              <a:t>En el software hay tres clientes (la tienda, el panel del administrador y Postman) y UN servidor Spring Boot,</a:t>
            </a:r>
          </a:p>
          <a:p>
            <a:r>
              <a:t>que es el único que habla con PostgreSQL.</a:t>
            </a:r>
          </a:p>
          <a:p>
            <a:r>
              <a:t>DETALLES A MENCIONAR:</a:t>
            </a:r>
          </a:p>
          <a:p>
            <a:r>
              <a:t>- Se comunican por HTTP con JSON; la sesión viaja en la cookie JSESSIONID (lo visto en la clase de sesiones) y</a:t>
            </a:r>
          </a:p>
          <a:p>
            <a:r>
              <a:t>  cada escritura lleva un token CSRF.</a:t>
            </a:r>
          </a:p>
          <a:p>
            <a:r>
              <a:t>- La campana de avisos pregunta al servidor cada 30 segundos: en cliente-servidor siempre pregunta el cliente.</a:t>
            </a:r>
          </a:p>
          <a:p>
            <a:r>
              <a:t>- En desarrollo Vite reenvía /api al backend; en producción lo hará Vercel con la variable BACKEND_URL.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Juan Franco Loayza</a:t>
            </a:r>
          </a:p>
          <a:p/>
          <a:p>
            <a:r>
              <a:t>QUÉ DECIR: ANALOGÍA: el MODELO es la ficha técnica del pedido (tallas, técnica, zonas, precio y sus reglas); la</a:t>
            </a:r>
          </a:p>
          <a:p>
            <a:r>
              <a:t>VISTA es la vista previa del polo con el logo que el cliente ve en pantalla; el CONTROLADOR es el asesor de</a:t>
            </a:r>
          </a:p>
          <a:p>
            <a:r>
              <a:t>ventas, que recibe lo que el cliente elige, actualiza la ficha y le muestra el resultado.</a:t>
            </a:r>
          </a:p>
          <a:p>
            <a:r>
              <a:t>RELACIÓN CON CLASE: JavaBeans → Modelo, Servlets → Controlador, JSP → Vista. La única adaptación es que la vista</a:t>
            </a:r>
          </a:p>
          <a:p>
            <a:r>
              <a:t>ya no es una JSP: es React en el navegador, y el controlador responde JSON en vez de hacer forward.</a:t>
            </a:r>
          </a:p>
          <a:p>
            <a:r>
              <a:t>EJEMPLO DEL DIAGRAMA: el cliente marca «pecho izquierdo» → React llama a POST /api/quotes → QuoteController</a:t>
            </a:r>
          </a:p>
          <a:p>
            <a:r>
              <a:t>llama a PricingService → vuelve el precio → React redibuja el precio y la vista previa.</a:t>
            </a:r>
          </a:p>
          <a:p>
            <a:r>
              <a:t>VENTAJA: la misma API sirve a la tienda, al panel y a las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Apolo Villanueva</a:t>
            </a:r>
          </a:p>
          <a:p/>
          <a:p>
            <a:r>
              <a:t>QUÉ DECIR: ANALOGÍA: cuando un pedido cambia de etapa, el jefe de taller toca una campana. Control interno lo</a:t>
            </a:r>
          </a:p>
          <a:p>
            <a:r>
              <a:t>anota en la bitácora y atención al cliente avisa al comprador. El jefe no sabe quién escucha.</a:t>
            </a:r>
          </a:p>
          <a:p>
            <a:r>
              <a:t>EN EL CÓDIGO (ya implementado en la fase 4):</a:t>
            </a:r>
          </a:p>
          <a:p>
            <a:r>
              <a:t>- Tres servicios PUBLICAN el evento OrderStatusChanged: OrderService (pedido creado), PaymentService (pago</a:t>
            </a:r>
          </a:p>
          <a:p>
            <a:r>
              <a:t>  aprobado) y OrderAdminService (el admin avanza o cancela).</a:t>
            </a:r>
          </a:p>
          <a:p>
            <a:r>
              <a:t>- El BUS es el de Spring (ApplicationEventPublisher), sin Kafka ni RabbitMQ porque tenemos un solo servidor.</a:t>
            </a:r>
          </a:p>
          <a:p>
            <a:r>
              <a:t>- Dos SUSCRIPTORES: AuditListener escribe en audit_log dentro de la misma transacción (si falla, el cambio se</a:t>
            </a:r>
          </a:p>
          <a:p>
            <a:r>
              <a:t>  deshace: nunca hay cambio sin rastro); NotificationListener crea el aviso de la campana después de confirmar.</a:t>
            </a:r>
          </a:p>
          <a:p>
            <a:r>
              <a:t>- Si mañana queremos enviar correos, se agrega un EmailListener sin tocar a los publicadores.</a:t>
            </a:r>
          </a:p>
          <a:p>
            <a:r>
              <a:t>SI PREGUNTAN por duplicados: cada evento tiene un eventId único; repetirlo no duplica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Apolo Villanueva</a:t>
            </a:r>
          </a:p>
          <a:p/>
          <a:p>
            <a:r>
              <a:t>QUÉ DECIR: Resumir cómo conviven los cuatro patrones en el mismo caso de los 12 polos:</a:t>
            </a:r>
          </a:p>
          <a:p>
            <a:r>
              <a:t>- Cliente-servidor: la tienda le pide al servidor; reglas y datos protegidos en un solo lugar.</a:t>
            </a:r>
          </a:p>
          <a:p>
            <a:r>
              <a:t>- MVC: React (vista) llama al controlador; la misma API sirve a todos.</a:t>
            </a:r>
          </a:p>
          <a:p>
            <a:r>
              <a:t>- Capas: el pedido atraviesa presentación, negocio y datos; errores bien separados.</a:t>
            </a:r>
          </a:p>
          <a:p>
            <a:r>
              <a:t>- Eventos: al cambiar de estado se audita y se avisa sin tocar el flujo de pedidos.</a:t>
            </a:r>
          </a:p>
          <a:p>
            <a:r>
              <a:t>IDEA CLAVE: cada patrón responde a una pregunta distinta, por eso se usan los cuatro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Apolo Villanueva</a:t>
            </a:r>
          </a:p>
          <a:p/>
          <a:p>
            <a:r>
              <a:t>QUÉ DECIR: A la izquierda, la estructura real del backend: un paquete por funcionalidad (pedidos, pagos,</a:t>
            </a:r>
          </a:p>
          <a:p>
            <a:r>
              <a:t>notificaciones, auditoría…) y, dentro de cada uno, los paquetes por capa: controller, service, repository, dto y</a:t>
            </a:r>
          </a:p>
          <a:p>
            <a:r>
              <a:t>model. Ningún paquete mezcla capas, que es lo que pide la rúbrica. Son 15 módulos y 127 clases, y las tablas se</a:t>
            </a:r>
          </a:p>
          <a:p>
            <a:r>
              <a:t>crean con las migraciones Flyway V1 a V6.</a:t>
            </a:r>
          </a:p>
          <a:p>
            <a:r>
              <a:t>A la derecha, lo que ya puede hacer cada usuario:</a:t>
            </a:r>
          </a:p>
          <a:p>
            <a:r>
              <a:t>- Tienda: catálogo, personalizador con vista previa, carrito, checkout con pago simulado, «Mis pedidos» y campana.</a:t>
            </a:r>
          </a:p>
          <a:p>
            <a:r>
              <a:t>- Panel: bandeja de pedidos con la máquina de estados y descarga del diseño, productos, categorías y usuarios.</a:t>
            </a:r>
          </a:p>
          <a:p>
            <a:r>
              <a:t>- Seguridad: sesión, CSRF, roles y SQL siempre con parámetros (nunca concatenado).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Jian Pier Campos</a:t>
            </a:r>
          </a:p>
          <a:p/>
          <a:p>
            <a:r>
              <a:t>QUÉ DECIR: Izquierda, las reglas del negocio que ya se cumplen:</a:t>
            </a:r>
          </a:p>
          <a:p>
            <a:r>
              <a:t>- El precio lo calcula el servidor: base + técnica + zonas, menos el descuento por mayoreo.</a:t>
            </a:r>
          </a:p>
          <a:p>
            <a:r>
              <a:t>- Mayoreo: 1–2 sin descuento, 3–5 al 5 %, 6–11 al 10 %, 12 o más al 15 %.</a:t>
            </a:r>
          </a:p>
          <a:p>
            <a:r>
              <a:t>- Cada tipo de producto define qué zona acepta qué técnica.</a:t>
            </a:r>
          </a:p>
          <a:p>
            <a:r>
              <a:t>- No hay sobreventa: si dos clientes compran la última unidad, solo uno la consigue.</a:t>
            </a:r>
          </a:p>
          <a:p>
            <a:r>
              <a:t>- PAGADO solo con un pago aprobado; cancelar devuelve el stock.</a:t>
            </a:r>
          </a:p>
          <a:p>
            <a:r>
              <a:t>- Cada cambio de estado se audita y genera un aviso.</a:t>
            </a:r>
          </a:p>
          <a:p>
            <a:r>
              <a:t>Derecha, cómo lo comprobamos: 44 pruebas unitarias en verde (incluida la del evento), 64 controles del recorrido</a:t>
            </a:r>
          </a:p>
          <a:p>
            <a:r>
              <a:t>completo de la API contra PostgreSQL, y la historia de los 12 polos hecha de punta a punta en el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Jian Pier Campos</a:t>
            </a:r>
          </a:p>
          <a:p/>
          <a:p>
            <a:r>
              <a:t>QUÉ DECIR: Lo que falta para la entrega final (fases 5 y 6):</a:t>
            </a:r>
          </a:p>
          <a:p>
            <a:r>
              <a:t>- Pruebas: una de integración del pedido (stock insuficiente → 409 y rollback) y una de seguridad (nadie ve el</a:t>
            </a:r>
          </a:p>
          <a:p>
            <a:r>
              <a:t>  pedido ni el diseño de otro).</a:t>
            </a:r>
          </a:p>
          <a:p>
            <a:r>
              <a:t>- Demo y despliegue: datos ficticios (no usamos datos personales reales), colección Postman, frontend en Vercel</a:t>
            </a:r>
          </a:p>
          <a:p>
            <a:r>
              <a:t>  y backend publicado.</a:t>
            </a:r>
          </a:p>
          <a:p>
            <a:r>
              <a:t>- Documentación: informe y PPT finales con capturas reales de las pantallas y el reparto de la exposición.</a:t>
            </a:r>
          </a:p>
          <a:p>
            <a:r>
              <a:t>- Fase 6: pasarela de pago real en sandbox; como el pago ya está detrás de la interfaz PaymentGateway, solo se</a:t>
            </a:r>
          </a:p>
          <a:p>
            <a:r>
              <a:t>  cambia la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SUGERIDO: Jian Pier Campos</a:t>
            </a:r>
          </a:p>
          <a:p/>
          <a:p>
            <a:r>
              <a:t>QUÉ DECIR: Cerrar con las cuatro ideas:</a:t>
            </a:r>
          </a:p>
          <a:p>
            <a:r>
              <a:t>1. Las capas se pueden comprobar en el código: el vendedor no entra al almacén.</a:t>
            </a:r>
          </a:p>
          <a:p>
            <a:r>
              <a:t>2. El servidor es la única autoridad sobre precios y stock.</a:t>
            </a:r>
          </a:p>
          <a:p>
            <a:r>
              <a:t>3. MVC se mantiene; la vista pasó de JSP a React.</a:t>
            </a:r>
          </a:p>
          <a:p>
            <a:r>
              <a:t>4. Los eventos ya funcionan: cada cambio se audita y se avisa al cliente.</a:t>
            </a:r>
          </a:p>
          <a:p>
            <a:r>
              <a:t>Agradecer y abrir la ronda de preguntas. Cada integrante responde las preguntas de las láminas que expuso.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UNIVERSIDAD TECNOLÓGICA DEL PERÚ  ·  INGENIERÍA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8412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600" b="1" i="0">
                <a:solidFill>
                  <a:srgbClr val="ECE2D0"/>
                </a:solidFill>
                <a:latin typeface="Cambria"/>
              </a:rPr>
              <a:t>Coral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0">
                <a:solidFill>
                  <a:srgbClr val="D9AFAF"/>
                </a:solidFill>
                <a:latin typeface="Cambria"/>
              </a:rPr>
              <a:t>Plataforma de comercio electrónico para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 i="0">
                <a:solidFill>
                  <a:srgbClr val="D9AFAF"/>
                </a:solidFill>
                <a:latin typeface="Cambria"/>
              </a:rPr>
              <a:t>la venta de ropa juvenil personalizable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1012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D8C6C0"/>
                </a:solidFill>
                <a:latin typeface="Calibri"/>
              </a:rPr>
              <a:t>Avance 2  ·  Arquitectura de la solución: capas, cliente-servidor, MVC y eventos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149840" cy="1828800"/>
          </a:xfrm>
          <a:prstGeom prst="roundRect">
            <a:avLst>
              <a:gd name="adj" fmla="val 2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422452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CURSO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Desarrollo Web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22452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DOCENTE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4805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Joel Ronald Vilca Chambi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224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AÑO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48056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743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00">
                <a:solidFill>
                  <a:srgbClr val="D9AFAF"/>
                </a:solidFill>
                <a:latin typeface="Calibri"/>
              </a:rPr>
              <a:t>GRUPO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0368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ECE2D0"/>
                </a:solidFill>
                <a:latin typeface="Calibri"/>
              </a:rPr>
              <a:t>Choquehuanca Marrufo, Liam Lennon  ·  Damián Valdivia, Diego Aarón  ·  Loayza Gerónimo, Juan Franco  ·  Villanueva Montalvo, Apolo Chris  ·  Campos Sulca, Jian Pier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Lo que vamos a recorrer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96112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6D2E46"/>
                </a:solidFill>
                <a:latin typeface="Cambria"/>
              </a:rPr>
              <a:t>Dónde estamos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535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Fases 0 a 4 terminadas y el caso de los 12 polos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599432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9432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A26769"/>
                </a:solidFill>
                <a:latin typeface="Cambria"/>
              </a:rPr>
              <a:t>Arquitectura en capas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535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El taller de Coral Shop y el recorrido de un pedido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02751" y="2020824"/>
            <a:ext cx="384048" cy="384048"/>
          </a:xfrm>
          <a:prstGeom prst="roundRect">
            <a:avLst>
              <a:gd name="adj" fmla="val 7142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02751" y="2020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1" y="25694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3C6E8F"/>
                </a:solidFill>
                <a:latin typeface="Cambria"/>
              </a:rPr>
              <a:t>Cliente-servidor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29535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Varios clientes, un servidor, una 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96112" y="4169663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71830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4E7A5A"/>
                </a:solidFill>
                <a:latin typeface="Cambria"/>
              </a:rPr>
              <a:t>MVC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1023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React como vista, Spring como controlador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3192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599432" y="4169663"/>
            <a:ext cx="384048" cy="384048"/>
          </a:xfrm>
          <a:prstGeom prst="roundRect">
            <a:avLst>
              <a:gd name="adj" fmla="val 7142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99432" y="416966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71830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8A6D3B"/>
                </a:solidFill>
                <a:latin typeface="Cambria"/>
              </a:rPr>
              <a:t>Dirigida por eventos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51023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OrderStatusChanged y la campana de avisos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931920"/>
            <a:ext cx="3429000" cy="1783080"/>
          </a:xfrm>
          <a:prstGeom prst="roundRect">
            <a:avLst>
              <a:gd name="adj" fmla="val 2051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302751" y="4169663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02751" y="416966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1" y="471830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6D2E46"/>
                </a:solidFill>
                <a:latin typeface="Cambria"/>
              </a:rPr>
              <a:t>Implementación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1" y="51023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Paquetes, reglas, pruebas y próximos pasos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Avance 2  ·  Arquitectura de la solución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1 · DÓNDE 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Cinco fases terminadas e integradas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59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Ordenar la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Terminada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5054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381358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381358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1358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Modelo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358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Terminada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3453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939757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939757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9757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API de compra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9757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Terminada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51852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98156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98156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8156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8156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Terminada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0251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056555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6555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6555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Eventos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555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Terminada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68650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614954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14954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4954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Calidad y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4954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A26769"/>
                </a:solidFill>
                <a:latin typeface="Calibri"/>
              </a:rPr>
              <a:t>Siguiente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27049" y="1508760"/>
            <a:ext cx="1485246" cy="1325880"/>
          </a:xfrm>
          <a:prstGeom prst="roundRect">
            <a:avLst>
              <a:gd name="adj" fmla="val 275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0173353" y="1664208"/>
            <a:ext cx="384048" cy="384048"/>
          </a:xfrm>
          <a:prstGeom prst="roundRect">
            <a:avLst>
              <a:gd name="adj" fmla="val 7142"/>
            </a:avLst>
          </a:prstGeom>
          <a:solidFill>
            <a:srgbClr val="6E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173353" y="16642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73353" y="2157984"/>
            <a:ext cx="11926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B2020"/>
                </a:solidFill>
                <a:latin typeface="Calibri"/>
              </a:rPr>
              <a:t>Pasarela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3353" y="2487168"/>
            <a:ext cx="11926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Pendiente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154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6D2E46"/>
                </a:solidFill>
                <a:latin typeface="Cambria"/>
              </a:rPr>
              <a:t>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E5B5B"/>
                </a:solidFill>
                <a:latin typeface="Calibri"/>
              </a:rPr>
              <a:t>tablas en PostgreSQL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3154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6D2E46"/>
                </a:solidFill>
                <a:latin typeface="Cambria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E5B5B"/>
                </a:solidFill>
                <a:latin typeface="Calibri"/>
              </a:rPr>
              <a:t>módulos del 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154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6D2E46"/>
                </a:solidFill>
                <a:latin typeface="Cambria"/>
              </a:rPr>
              <a:t>44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E5B5B"/>
                </a:solidFill>
                <a:latin typeface="Calibri"/>
              </a:rPr>
              <a:t>pruebas unitarias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154680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 i="0">
                <a:solidFill>
                  <a:srgbClr val="6D2E46"/>
                </a:solidFill>
                <a:latin typeface="Cambria"/>
              </a:rPr>
              <a:t>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3886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6E5B5B"/>
                </a:solidFill>
                <a:latin typeface="Calibri"/>
              </a:rPr>
              <a:t>controles de punta a punta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526280"/>
            <a:ext cx="10908792" cy="1600200"/>
          </a:xfrm>
          <a:prstGeom prst="roundRect">
            <a:avLst>
              <a:gd name="adj" fmla="val 2285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4400" y="470916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50">
                <a:solidFill>
                  <a:srgbClr val="D9AFAF"/>
                </a:solidFill>
                <a:latin typeface="Calibri"/>
              </a:rPr>
              <a:t>EL CASO QUE GUÍA TODO EL AVANCE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010912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ECE2D0"/>
                </a:solidFill>
                <a:latin typeface="Calibri"/>
              </a:rPr>
              <a:t>Un cliente personaliza 12 polos con su logo bordado en el pecho (4 S, 4 M, 4 L), crea el pedido y paga; el administrador lo avanza hasta ENTREGADO y la campana le avisa cada cambio. Ya recorrido en el navegador.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PATRONES VISTOS EN 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Cuatro patrones, un mismo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2651760" cy="329184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 · CAPAS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6D2E46"/>
                </a:solidFill>
                <a:latin typeface="Cambria"/>
              </a:rPr>
              <a:t>Organiza el servidor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6207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Presentación → Negocio → Datos. Cada módulo tiene controller, service y repository.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46520" y="1874519"/>
            <a:ext cx="2651760" cy="329184"/>
          </a:xfrm>
          <a:prstGeom prst="roundRect">
            <a:avLst>
              <a:gd name="adj" fmla="val 8333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 · CLIENTE-SERVIDOR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3C6E8F"/>
                </a:solidFill>
                <a:latin typeface="Cambria"/>
              </a:rPr>
              <a:t>Reparte qué corre dónde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6207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React en el navegador, Spring Boot en el servidor y PostgreSQL detrás.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2651760" cy="329184"/>
          </a:xfrm>
          <a:prstGeom prst="roundRect">
            <a:avLst>
              <a:gd name="adj" fmla="val 8333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 · MVC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5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4E7A5A"/>
                </a:solidFill>
                <a:latin typeface="Cambria"/>
              </a:rPr>
              <a:t>Separa datos, pantalla y coordinación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9379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Modelo: records y servicios. Vista: React. Controlador: @RestController.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31920"/>
            <a:ext cx="5349240" cy="2103120"/>
          </a:xfrm>
          <a:prstGeom prst="roundRect">
            <a:avLst>
              <a:gd name="adj" fmla="val 1739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46520" y="4206240"/>
            <a:ext cx="2651760" cy="329184"/>
          </a:xfrm>
          <a:prstGeom prst="roundRect">
            <a:avLst>
              <a:gd name="adj" fmla="val 8333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46520" y="420624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 · DIRIGIDO POR EVENTOS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0915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8A6D3B"/>
                </a:solidFill>
                <a:latin typeface="Cambria"/>
              </a:rPr>
              <a:t>Reacciona a hechos del negocio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19379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OrderStatusChanged en el bus de Spring: auditoría y avisos. Implementado en la fase 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No compiten: describen el sistema desde niveles distintos y se aplican a la vez.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ARQUITECTURA EN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El vendedor no entra al almacén</a:t>
            </a:r>
          </a:p>
        </p:txBody>
      </p:sp>
      <p:pic>
        <p:nvPicPr>
          <p:cNvPr id="4" name="Picture 3" descr="A2_01_capas_ta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80" y="1371600"/>
            <a:ext cx="9059333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En el código: ningún controller recibe JdbcTemplate ni escribe SQL; todo el SQL vive en los @Repository.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ARQUITECTURA EN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Los 12 polos bordados: tres capas, tres responsabilidades</a:t>
            </a:r>
          </a:p>
        </p:txBody>
      </p:sp>
      <p:pic>
        <p:nvPicPr>
          <p:cNvPr id="4" name="Picture 3" descr="A2_02_capas_ped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83680" cy="48719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64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Presentación. </a:t>
            </a:r>
            <a:r>
              <a:rPr sz="1200">
                <a:solidFill>
                  <a:srgbClr val="2B2020"/>
                </a:solidFill>
                <a:latin typeface="Calibri"/>
              </a:rPr>
              <a:t>El DTO valida el formato con @Valid; si falla, 400 sin tocar la base.</a:t>
            </a:r>
          </a:p>
          <a:p>
            <a:pPr>
              <a:lnSpc>
                <a:spcPct val="130000"/>
              </a:lnSpc>
              <a:spcAft>
                <a:spcPts val="864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Negocio. </a:t>
            </a:r>
            <a:r>
              <a:rPr sz="1200">
                <a:solidFill>
                  <a:srgbClr val="2B2020"/>
                </a:solidFill>
                <a:latin typeface="Calibri"/>
              </a:rPr>
              <a:t>Una transacción: el pecho admite bordado, el logo es del cliente, 12 polos = escala de docena (−15 %) y precios recalculados.</a:t>
            </a:r>
          </a:p>
          <a:p>
            <a:pPr>
              <a:lnSpc>
                <a:spcPct val="130000"/>
              </a:lnSpc>
              <a:spcAft>
                <a:spcPts val="864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Datos. </a:t>
            </a:r>
            <a:r>
              <a:rPr sz="1200">
                <a:solidFill>
                  <a:srgbClr val="2B2020"/>
                </a:solidFill>
                <a:latin typeface="Calibri"/>
              </a:rPr>
              <a:t>Descuento condicional de stock por talla; si no alcanza, rollback completo y 409.</a:t>
            </a:r>
          </a:p>
          <a:p>
            <a:pPr>
              <a:lnSpc>
                <a:spcPct val="130000"/>
              </a:lnSpc>
              <a:spcAft>
                <a:spcPts val="864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Evento. </a:t>
            </a:r>
            <a:r>
              <a:rPr sz="1200">
                <a:solidFill>
                  <a:srgbClr val="2B2020"/>
                </a:solidFill>
                <a:latin typeface="Calibri"/>
              </a:rPr>
              <a:t>Al confirmar, OrderService publica OrderStatusChanged (nuevo → PENDIENTE_PAGO).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2 · ARQUITECTURA EN CAPAS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Cada capa responde con su propio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578608" cy="384048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3C6E8F"/>
                </a:solidFill>
                <a:latin typeface="Cambria"/>
              </a:rPr>
              <a:t>400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9748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Presentación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B2020"/>
                </a:solidFill>
                <a:latin typeface="Cambria"/>
              </a:rPr>
              <a:t>Formato inválido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1">
                <a:solidFill>
                  <a:srgbClr val="6E5B5B"/>
                </a:solidFill>
                <a:latin typeface="Calibri"/>
              </a:rPr>
              <a:t>Cotización sin líneas · archivo que no es imagen · diseño de más de 5 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600200"/>
            <a:ext cx="2578608" cy="384048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75887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6E5B5B"/>
                </a:solidFill>
                <a:latin typeface="Cambria"/>
              </a:rPr>
              <a:t>404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269748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6E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75887" y="26974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B2020"/>
                </a:solidFill>
                <a:latin typeface="Cambria"/>
              </a:rPr>
              <a:t>No existe para 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6576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1">
                <a:solidFill>
                  <a:srgbClr val="6E5B5B"/>
                </a:solidFill>
                <a:latin typeface="Calibri"/>
              </a:rPr>
              <a:t>Un cliente pide un pedido o un aviso ajeno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600200"/>
            <a:ext cx="2578608" cy="384048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7376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A26769"/>
                </a:solidFill>
                <a:latin typeface="Cambria"/>
              </a:rPr>
              <a:t>409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269748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37376" y="26974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Negocio ·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B2020"/>
                </a:solidFill>
                <a:latin typeface="Cambria"/>
              </a:rPr>
              <a:t>Conflicto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6576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1">
                <a:solidFill>
                  <a:srgbClr val="6E5B5B"/>
                </a:solidFill>
                <a:latin typeface="Calibri"/>
              </a:rPr>
              <a:t>«Stock insuficiente para POLO-…-S (S, Blanco): pediste 21»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600200"/>
            <a:ext cx="2578608" cy="384048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98864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400" b="1" i="0">
                <a:solidFill>
                  <a:srgbClr val="6D2E46"/>
                </a:solidFill>
                <a:latin typeface="Cambria"/>
              </a:rPr>
              <a:t>422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269748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98864" y="26974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Negocio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B2020"/>
                </a:solidFill>
                <a:latin typeface="Cambria"/>
              </a:rPr>
              <a:t>Regla violada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3657600"/>
            <a:ext cx="2103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1">
                <a:solidFill>
                  <a:srgbClr val="6E5B5B"/>
                </a:solidFill>
                <a:latin typeface="Calibri"/>
              </a:rPr>
              <a:t>«La zona ESPALDA no admite bordado…» · pasar de PAGADO a ENTREGADO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23560"/>
            <a:ext cx="10908792" cy="566928"/>
          </a:xfrm>
          <a:prstGeom prst="roundRect">
            <a:avLst>
              <a:gd name="adj" fmla="val 6451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ECE2D0"/>
                </a:solidFill>
                <a:latin typeface="Calibri"/>
              </a:rPr>
              <a:t>Un único @RestControllerAdvice devuelve siempre { status, message, errors }: mensajes reales obtenidos al verificar la API.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3 · CLIENTE-SERVIDOR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El servidor es la única autoridad</a:t>
            </a:r>
          </a:p>
        </p:txBody>
      </p:sp>
      <p:pic>
        <p:nvPicPr>
          <p:cNvPr id="4" name="Picture 3" descr="A2_03_cliente_serv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941" y="1371600"/>
            <a:ext cx="764381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Como el taller central: el servidor recalcula precios y stock y nunca acepta importes del navegador.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4 · MODELO-VISTA-CONTROLADOR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Los tres roles de clase, con la vista en el navegador</a:t>
            </a:r>
          </a:p>
        </p:txBody>
      </p:sp>
      <p:pic>
        <p:nvPicPr>
          <p:cNvPr id="4" name="Picture 3" descr="A2_04_m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756" y="1371600"/>
            <a:ext cx="7412181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6E5B5B"/>
                </a:solidFill>
                <a:latin typeface="Calibri"/>
              </a:rPr>
              <a:t>Ficha técnica = modelo · vista previa = vista · asesor de ventas = controlador. El controlador responde JSON y React lo dibuja.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5 · DIRIGIDA POR 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La campana del taller: quien publica no sabe quién escucha</a:t>
            </a:r>
          </a:p>
        </p:txBody>
      </p:sp>
      <p:pic>
        <p:nvPicPr>
          <p:cNvPr id="4" name="Picture 3" descr="A2_05_ev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59" y="1371600"/>
            <a:ext cx="7194176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4E7A5A"/>
                </a:solidFill>
                <a:latin typeface="Calibri"/>
              </a:rPr>
              <a:t>Implementado en la fase 4 con el bus de Spring, sin broker externo; migración V6 (notifications y audit_log).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Cómo conviven los cuatro patrones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20">
                <a:solidFill>
                  <a:srgbClr val="6E5B5B"/>
                </a:solidFill>
                <a:latin typeface="Calibri"/>
              </a:rPr>
              <a:t>PATRÓN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508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20">
                <a:solidFill>
                  <a:srgbClr val="6E5B5B"/>
                </a:solidFill>
                <a:latin typeface="Calibri"/>
              </a:rPr>
              <a:t>NIVEL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08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 i="0" spc="120">
                <a:solidFill>
                  <a:srgbClr val="6E5B5B"/>
                </a:solidFill>
                <a:latin typeface="Calibri"/>
              </a:rPr>
              <a:t>BENEFICIO PARA CORAL SHOP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0908792" cy="868680"/>
          </a:xfrm>
          <a:prstGeom prst="roundRect">
            <a:avLst>
              <a:gd name="adj" fmla="val 421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73152" cy="86868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3C6E8F"/>
                </a:solidFill>
                <a:latin typeface="Cambria"/>
              </a:rPr>
              <a:t>Cliente-servidor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74519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Despliegue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Reglas y datos protegidos en un solo lugar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79"/>
            <a:ext cx="10908792" cy="868680"/>
          </a:xfrm>
          <a:prstGeom prst="roundRect">
            <a:avLst>
              <a:gd name="adj" fmla="val 421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0080" y="2926079"/>
            <a:ext cx="73152" cy="868680"/>
          </a:xfrm>
          <a:prstGeom prst="rect">
            <a:avLst/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926079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4E7A5A"/>
                </a:solidFill>
                <a:latin typeface="Cambria"/>
              </a:rPr>
              <a:t>MVC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26079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Interacción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79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La misma API sirve a la tienda, al panel y a las pruebas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10908792" cy="868680"/>
          </a:xfrm>
          <a:prstGeom prst="roundRect">
            <a:avLst>
              <a:gd name="adj" fmla="val 421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73152" cy="86868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6D2E46"/>
                </a:solidFill>
                <a:latin typeface="Cambria"/>
              </a:rPr>
              <a:t>Capas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977639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Organización del servidor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77639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Cambios acotados y errores 400, 422 y 409 bien separados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908792" cy="868680"/>
          </a:xfrm>
          <a:prstGeom prst="roundRect">
            <a:avLst>
              <a:gd name="adj" fmla="val 421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0080" y="5029200"/>
            <a:ext cx="73152" cy="868680"/>
          </a:xfrm>
          <a:prstGeom prst="rect">
            <a:avLst/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8A6D3B"/>
                </a:solidFill>
                <a:latin typeface="Cambria"/>
              </a:rPr>
              <a:t>Eventos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02920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Reacciones del negocio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29200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2B2020"/>
                </a:solidFill>
                <a:latin typeface="Calibri"/>
              </a:rPr>
              <a:t>Cada cambio se audita y se avisa sin tocar el flujo de pedidos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6 ·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Paquetes por funcionalidad y por capa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760720" cy="4709160"/>
          </a:xfrm>
          <a:prstGeom prst="roundRect">
            <a:avLst>
              <a:gd name="adj" fmla="val 776"/>
            </a:avLst>
          </a:prstGeom>
          <a:solidFill>
            <a:srgbClr val="3D1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com.coralshop/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auth/          config · controller · dto · service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catalog/       controller · dto · model · repository · service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customization/ controller · dto · model · repository · service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design/        controller · dto · model · repository · service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pricing/       controller · dto · model · service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order/         controller · dto · event · model · repo · service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payment/       controller · dto · model · repository · service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notification/  controller · dto · listener · repo · service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audit/         listener · repository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├─ address/ · shipping/ · user/ · stats/ · health/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└─ common/        dto · exception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CE2D0"/>
                </a:solidFill>
                <a:latin typeface="Consolas"/>
              </a:rPr>
              <a:t>db/migration/     V1 … V6 (Flyway)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63040"/>
            <a:ext cx="4919472" cy="1463040"/>
          </a:xfrm>
          <a:prstGeom prst="roundRect">
            <a:avLst>
              <a:gd name="adj" fmla="val 250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629400" y="1463040"/>
            <a:ext cx="64008" cy="1463040"/>
          </a:xfrm>
          <a:prstGeom prst="rect">
            <a:avLst/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67144" y="1700784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3C6E8F"/>
                </a:solidFill>
                <a:latin typeface="Cambria"/>
              </a:rPr>
              <a:t>Tienda (cliente)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7144" y="2103120"/>
            <a:ext cx="4443983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Catálogo, personalizador con vista previa, carrito, checkout con pago simulado, «Mis pedidos» y campana de avisos.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081528"/>
            <a:ext cx="4919472" cy="1463040"/>
          </a:xfrm>
          <a:prstGeom prst="roundRect">
            <a:avLst>
              <a:gd name="adj" fmla="val 250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629400" y="3081528"/>
            <a:ext cx="64008" cy="146304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67144" y="3319272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Panel (administrador)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443983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Bandeja de pedidos con máquina de estados y descarga del diseño, productos, categorías, usuarios y métricas.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700016"/>
            <a:ext cx="4919472" cy="1463040"/>
          </a:xfrm>
          <a:prstGeom prst="roundRect">
            <a:avLst>
              <a:gd name="adj" fmla="val 2500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29400" y="4700016"/>
            <a:ext cx="64008" cy="1463040"/>
          </a:xfrm>
          <a:prstGeom prst="rect">
            <a:avLst/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67144" y="4937759"/>
            <a:ext cx="4443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4E7A5A"/>
                </a:solidFill>
                <a:latin typeface="Cambria"/>
              </a:rPr>
              <a:t>Seguridad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5340096"/>
            <a:ext cx="4443983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 i="0">
                <a:solidFill>
                  <a:srgbClr val="2B2020"/>
                </a:solidFill>
                <a:latin typeface="Calibri"/>
              </a:rPr>
              <a:t>Sesión, CSRF, roles (un admin también compra) y SQL siempre con parámetros.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6 ·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Reglas del negocio, verificadas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20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Precio en el servidor: </a:t>
            </a:r>
            <a:r>
              <a:rPr sz="1200">
                <a:solidFill>
                  <a:srgbClr val="2B2020"/>
                </a:solidFill>
                <a:latin typeface="Calibri"/>
              </a:rPr>
              <a:t>base + técnica + zonas, con el descuento de la escala.</a:t>
            </a:r>
          </a:p>
          <a:p>
            <a:pPr>
              <a:lnSpc>
                <a:spcPct val="125000"/>
              </a:lnSpc>
              <a:spcAft>
                <a:spcPts val="720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Mayoreo: </a:t>
            </a:r>
            <a:r>
              <a:rPr sz="1200">
                <a:solidFill>
                  <a:srgbClr val="2B2020"/>
                </a:solidFill>
                <a:latin typeface="Calibri"/>
              </a:rPr>
              <a:t>1–2 sin descuento · 3–5 al 5 % · 6–11 al 10 % · 12+ al 15 %.</a:t>
            </a:r>
          </a:p>
          <a:p>
            <a:pPr>
              <a:lnSpc>
                <a:spcPct val="125000"/>
              </a:lnSpc>
              <a:spcAft>
                <a:spcPts val="720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Zonas por tipo: </a:t>
            </a:r>
            <a:r>
              <a:rPr sz="1200">
                <a:solidFill>
                  <a:srgbClr val="2B2020"/>
                </a:solidFill>
                <a:latin typeface="Calibri"/>
              </a:rPr>
              <a:t>el bordado admite menos zonas y tamaños que el estampado.</a:t>
            </a:r>
          </a:p>
          <a:p>
            <a:pPr>
              <a:lnSpc>
                <a:spcPct val="125000"/>
              </a:lnSpc>
              <a:spcAft>
                <a:spcPts val="720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Sin sobreventa: </a:t>
            </a:r>
            <a:r>
              <a:rPr sz="1200">
                <a:solidFill>
                  <a:srgbClr val="2B2020"/>
                </a:solidFill>
                <a:latin typeface="Calibri"/>
              </a:rPr>
              <a:t>UPDATE … WHERE stock &gt;= ? dentro de la transacción.</a:t>
            </a:r>
          </a:p>
          <a:p>
            <a:pPr>
              <a:lnSpc>
                <a:spcPct val="125000"/>
              </a:lnSpc>
              <a:spcAft>
                <a:spcPts val="720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Estados: </a:t>
            </a:r>
            <a:r>
              <a:rPr sz="1200">
                <a:solidFill>
                  <a:srgbClr val="2B2020"/>
                </a:solidFill>
                <a:latin typeface="Calibri"/>
              </a:rPr>
              <a:t>PAGADO solo con pago aprobado; cancelar repone el stock.</a:t>
            </a:r>
          </a:p>
          <a:p>
            <a:pPr>
              <a:lnSpc>
                <a:spcPct val="125000"/>
              </a:lnSpc>
              <a:spcAft>
                <a:spcPts val="720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Rastro: </a:t>
            </a:r>
            <a:r>
              <a:rPr sz="1200">
                <a:solidFill>
                  <a:srgbClr val="2B2020"/>
                </a:solidFill>
                <a:latin typeface="Calibri"/>
              </a:rPr>
              <a:t>cada cambio de estado se audita y genera un aviso al cliente.</a:t>
            </a:r>
          </a:p>
          <a:p>
            <a:pPr>
              <a:lnSpc>
                <a:spcPct val="125000"/>
              </a:lnSpc>
              <a:spcAft>
                <a:spcPts val="720"/>
              </a:spcAft>
            </a:pPr>
            <a:r>
              <a:rPr sz="1200">
                <a:solidFill>
                  <a:srgbClr val="A26769"/>
                </a:solidFill>
                <a:latin typeface="Calibri"/>
              </a:rPr>
              <a:t>▪  </a:t>
            </a:r>
            <a:r>
              <a:rPr sz="1200" b="1">
                <a:solidFill>
                  <a:srgbClr val="2B2020"/>
                </a:solidFill>
                <a:latin typeface="Calibri"/>
              </a:rPr>
              <a:t>Pago seguro: </a:t>
            </a:r>
            <a:r>
              <a:rPr sz="1200">
                <a:solidFill>
                  <a:srgbClr val="2B2020"/>
                </a:solidFill>
                <a:latin typeface="Calibri"/>
              </a:rPr>
              <a:t>pedido bloqueado durante el cobro; la tarjeta no se guarda.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554480"/>
            <a:ext cx="4599432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23760" y="1691639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i="0">
                <a:solidFill>
                  <a:srgbClr val="4E7A5A"/>
                </a:solidFill>
                <a:latin typeface="Cambria"/>
              </a:rPr>
              <a:t>44 /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7830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B2020"/>
                </a:solidFill>
                <a:latin typeface="Calibri"/>
              </a:rPr>
              <a:t>pruebas unitarias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35915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mayoreo, importes, estados, imagen, pasarela y entrega del evento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108960"/>
            <a:ext cx="4599432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2376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i="0">
                <a:solidFill>
                  <a:srgbClr val="3C6E8F"/>
                </a:solidFill>
                <a:latin typeface="Cambria"/>
              </a:rPr>
              <a:t>64 / 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3375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B2020"/>
                </a:solidFill>
                <a:latin typeface="Calibri"/>
              </a:rPr>
              <a:t>controles de la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9136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flujo completo y cada regla rota contra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663440"/>
            <a:ext cx="4599432" cy="1371600"/>
          </a:xfrm>
          <a:prstGeom prst="roundRect">
            <a:avLst>
              <a:gd name="adj" fmla="val 2666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23760" y="4800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 i="0">
                <a:solidFill>
                  <a:srgbClr val="6D2E46"/>
                </a:solidFill>
                <a:latin typeface="Cambria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892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2B2020"/>
                </a:solidFill>
                <a:latin typeface="Calibri"/>
              </a:rPr>
              <a:t>historia en el navegador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4681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E5B5B"/>
                </a:solidFill>
                <a:latin typeface="Calibri"/>
              </a:rPr>
              <a:t>12 polos de punta a punta, con los avisos de la campana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A26769"/>
                </a:solidFill>
                <a:latin typeface="Calibr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 i="0">
                <a:solidFill>
                  <a:srgbClr val="6D2E46"/>
                </a:solidFill>
                <a:latin typeface="Cambria"/>
              </a:rPr>
              <a:t>De la tienda completa a la entrega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578608" cy="301752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1280160" cy="329184"/>
          </a:xfrm>
          <a:prstGeom prst="roundRect">
            <a:avLst>
              <a:gd name="adj" fmla="val 8333"/>
            </a:avLst>
          </a:prstGeom>
          <a:solidFill>
            <a:srgbClr val="3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77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C6E8F"/>
                </a:solidFill>
                <a:latin typeface="Cambria"/>
              </a:rPr>
              <a:t>Pruebas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4612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B2020"/>
                </a:solidFill>
                <a:latin typeface="Calibri"/>
              </a:rPr>
              <a:t>Integración de POST /api/orders (409 y rollback) y seguridad: nadie ve el pedido ni el diseño de otro.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600200"/>
            <a:ext cx="2578608" cy="301752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1280160" cy="329184"/>
          </a:xfrm>
          <a:prstGeom prst="roundRect">
            <a:avLst>
              <a:gd name="adj" fmla="val 8333"/>
            </a:avLst>
          </a:prstGeom>
          <a:solidFill>
            <a:srgbClr val="4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4E7A5A"/>
                </a:solidFill>
                <a:latin typeface="Cambria"/>
              </a:rPr>
              <a:t>Demo y despliegue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4612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B2020"/>
                </a:solidFill>
                <a:latin typeface="Calibri"/>
              </a:rPr>
              <a:t>Datos ficticios, colección Postman, frontend en Vercel (BACKEND_URL) y backend publicado.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600200"/>
            <a:ext cx="2578608" cy="301752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19088" y="1828800"/>
            <a:ext cx="1280160" cy="329184"/>
          </a:xfrm>
          <a:prstGeom prst="roundRect">
            <a:avLst>
              <a:gd name="adj" fmla="val 8333"/>
            </a:avLst>
          </a:prstGeom>
          <a:solidFill>
            <a:srgbClr val="8A6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19088" y="1828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Fase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77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8A6D3B"/>
                </a:solidFill>
                <a:latin typeface="Cambria"/>
              </a:rPr>
              <a:t>Documentación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24612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B2020"/>
                </a:solidFill>
                <a:latin typeface="Calibri"/>
              </a:rPr>
              <a:t>Informe y PPT finales con capturas reales y reparto de la exposición.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544" y="1600200"/>
            <a:ext cx="2578608" cy="3017520"/>
          </a:xfrm>
          <a:prstGeom prst="roundRect">
            <a:avLst>
              <a:gd name="adj" fmla="val 1418"/>
            </a:avLst>
          </a:prstGeom>
          <a:solidFill>
            <a:srgbClr val="FBF7F2"/>
          </a:solidFill>
          <a:ln w="9525">
            <a:solidFill>
              <a:srgbClr val="D8C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180576" y="1828800"/>
            <a:ext cx="1280160" cy="329184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0576" y="182880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Fase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3774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6D2E46"/>
                </a:solidFill>
                <a:latin typeface="Cambria"/>
              </a:rPr>
              <a:t>Pasarela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24612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2B2020"/>
                </a:solidFill>
                <a:latin typeface="Calibri"/>
              </a:rPr>
              <a:t>Pago en sandbox con webhook, detrás de la misma interfaz PaymentGateway.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6E5B5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58400" y="-1280160"/>
            <a:ext cx="3474720" cy="347472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 spc="200">
                <a:solidFill>
                  <a:srgbClr val="D9AFAF"/>
                </a:solidFill>
                <a:latin typeface="Calibri"/>
              </a:rPr>
              <a:t>PARA CERRAR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98448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800" b="1" i="0">
                <a:solidFill>
                  <a:srgbClr val="ECE2D0"/>
                </a:solidFill>
                <a:latin typeface="Cambria"/>
              </a:rPr>
              <a:t>La arquitectura se ve en el código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1460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ECE2D0"/>
                </a:solidFill>
                <a:latin typeface="Cambria"/>
              </a:rPr>
              <a:t>Capas comprobables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1810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El vendedor no entra al almacén: ningún controller toca la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51460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29400" y="269748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ECE2D0"/>
                </a:solidFill>
                <a:latin typeface="Cambria"/>
              </a:rPr>
              <a:t>Servidor como autoridad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1810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Precios y stock se recalculan siempre en el servidor.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93192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71600" y="411480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ECE2D0"/>
                </a:solidFill>
                <a:latin typeface="Cambria"/>
              </a:rPr>
              <a:t>MVC adaptado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3542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La vista pasó de JSP a React; el controlador responde JSON.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931920"/>
            <a:ext cx="4937760" cy="1188720"/>
          </a:xfrm>
          <a:prstGeom prst="roundRect">
            <a:avLst>
              <a:gd name="adj" fmla="val 3076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29400" y="411480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ECE2D0"/>
                </a:solidFill>
                <a:latin typeface="Cambria"/>
              </a:rPr>
              <a:t>Eventos en marcha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3542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D8C6C0"/>
                </a:solidFill>
                <a:latin typeface="Calibri"/>
              </a:rPr>
              <a:t>Cada cambio de estado se audita y se avisa al cliente.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1" i="0">
                <a:solidFill>
                  <a:srgbClr val="D9AFAF"/>
                </a:solidFill>
                <a:latin typeface="Cambria"/>
              </a:rPr>
              <a:t>Gracias. 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